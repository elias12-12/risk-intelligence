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A bank moves money, some of that movement is fraud, and a fraud system has to decide in the time it takes a card terminal to beep. GlassBox is built around a requirement that matters more than raw detection in a regulated business — every decision must arrive with a complete, human-readable explanation that reconstructs both the score and the action exactly. The name is the opposite of black box. In ten minutes: the claim, the honest scope of the evidence, the shape of the system, how it is operated and measured, and where this could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opposite ways to get this wrong, and they cost differently. Miss it, and fraud goes through — the bank loses money and finds out weeks later from a chargeback. Over-call it, and you have declined a real customer's card in a restaurant abroad; they may never trust it again. Every fraud system is judged on those two. GlassBox is organised around a third requirement. Six months after a decision, someone asks why a customer was declined on the fourteenth of January. In most systems that question ends in a model version and a shrug. Here the answer is retrievable and exact: which evidence caused it and what each piece was worth, which rule authorised the action, and — the part people forget — what the system could not see at the time. Two consequences follow and they shape everything else: the score has to be a literal sum, and the detection logic has to live in data rather than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you how it works, the honest scope of the evidence — because a prototype that overstates itself is worse than no prototype; it moves decisions forward on evidence that does not exist. Everything after this slide should be read against this one. On the left, what is demonstrated. Scores are additive and fully decomposable, and that is verified in the database, not just claimed. Four structurally different fraud shapes fit the same model. Mitigating evidence can hold a transaction below the line and cap what the system is allowed to do about it. A charge can be stopped at the door rather than regretted afterwards. And a rule can go from written to acting without a release. On the right, what it does not prove. The data is synthetic, so detection quality is untested — synthetic fraud is fraud we already knew how to describe. Latency is a design target, not a measurement. Nothing has failed because nothing real has run. And no analyst has yet had to trust it. Before this touches real money it needs three things: real authentication, a real step-up integration, and continuous integration so the guardrails run without someone remembering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shape of the data, and read it bottom up — each layer is built from the one below it. Dimensions are the things the bank knows about: customers, accounts, cards, merchants, devices. Raw capture is what happened — transactions, and events like a password reset or a failed challenge. Links are the connections between entities, and clusters are groups the system discovers itself: four accounts opened from one device, never hardcoded. Features are measured facts, like how many card-not-present charges in ninety seconds. Rules are bundles of conditions over those features. Decisions and alerts are what came out. And feedback is the analyst verdict, which flows back into how rules are priced. The two layers with weight are the extension seam. Features and rules are both data, and that is what makes a new detection an INSERT rather than a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same system as an engineer would draw it — four layers, and one line between them that matters more than the rest. L1 is the logic, and it is database rows: rules, conditions, the features they are allowed to read, thresholds and bands. Changing detection means changing rows. L2 is the engine — an interpreter of those rows. It computes the facts, works out which entity each fact belongs to, applies the rows, decides the action, and writes down everything it looked at. It knows no fraud pattern by name. L3 is a set of published payloads with fixed shapes: a case, the queue, the measurements, the what-ifs. A new surface is added beside them, never by changing one. L4 is the console where a person works — the queue, the case, the rules, the measurements — and it asserts nothing the payload does not already say. The line between L1 and L2 is the whole design: detection is data, and the code is the thing that reads it. Everything on the next few slides is a consequence of that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follow one charge through those layers. It arrives asking permission — before it counts as approved, which is what makes stopping it possible. The facts are measured as they stood at that instant, never as they look later. Each condition either fires or records why it could not — a missing fact is written down as missing, not silently treated as zero. The reasons are pooled into one score, each fact counted once however many rules mention it. And then the action is chosen, which is a separate question under its own higher bar. Three ways out. Declined at the door, with a step-up offered. A case raised for an analyst, who records a verdict. Or passed — and recorded with its reasons all the same, because the ones you let through are the ones you will be asked about later. The line at the bottom is the part engineers ask about: this is one code path. At the authorization door it runs synchronously and can stop the charge; everywhere else the same code runs on a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remember, and I want to state the structure before showing you one. A rule is a definition plus a set of conditions. Each condition is one test on one measured fact, and each condition carries its own point value — that is where the numbers live. A rule's score is the sum of the conditions that fired inside it. Nothing else. It is not a model output and not a weighted blend; if a machine-learning model is ever introduced it enters as one line in that addition with its own number, never as the score itself. Now the example on the left. This is one rule — a rapid card-not-present burst — and these are its four conditions. Five card-not-present charges in ninety seconds is priced at thirty-four. A device first seen four minutes ago, twenty-one. Gift-card merchant category, eighteen. A country never seen on this card, fourteen. The rule scores eighty-seven, and you can check the arithmetic from where you are sitting. One thing to add: a transaction can trip several rules at once, and their scores combine into one number for the transaction — but a fact two rules both mention is still counted once, so nothing is double-charged. Three things enforce all of it. The API refuses to serve an explanation whose conditions do not add up — checked on the server, in a database view, in the test suite, and again in the browser. Every number is traced back to the row it came from, and one that cannot cite its source fails the build. And there is no language model anywhere in this path, deliberately: the explanation surface of a glass-box system should not itself be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in the argument. Everything so far was about explaining a decision; this is about changing the system. In most fraud platforms adding a pattern means a code change, a review, a release train, and a window three weeks out. Here the detection logic is not in the program at all. A rule is rows: a definition, and one row per condition, each carrying its point value. The Python is an interpreter of those rows — it genuinely does not know what card testing or a mule ring is. So look at what a change actually costs. The top three lines are the common cases and none of them is a release: a new rule over features that already exist is two INSERTs or one API call; a new feature using a computation the system already has is one INSERT and a pass to compute it; retuning a threshold, a price or a band cutoff is an UPDATE, written as a new file so the reason survives next to the value. Below the line is where you genuinely need an engineer — a new kind of computation, or a new type of thing to judge. And the first line is tested, not asserted: there is a suite that builds a complete working detector inside the test body while a hook records every statement and fails the build if any of them changes the schema. That is what keeps the claim honest as the system 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how a rule gets written safely. Four steps. Validation rejects the shapes that would produce a rule that does nothing rather than a rule that fails — a mistyped operator used to yield a rule that never fired, never errored, and looked in the ledger exactly like a rule that works and finds nothing. Simulation runs the candidate against real history and shows what it would have done, including a diff against what was actually decided; nothing survives it, because it runs inside a transaction that is rolled back. Publishing lands the rule in shadow: it is scored on every applicable subject and recorded in full, and it acts on nobody. Promotion is a separate, recorded act by a named person. The detail I would point an engineer at: the function that applies a candidate inside the simulation is the same function that publishes it. What an admin tested is what an admin publishes — the only difference is the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detection is data, you have to be able to tell whether it is working — so measurement is part of the system, not a report bolted on. Three disciplines. Every figure is computed from the rows the decisions were written to, never assembled on the screen. Every rate publishes its denominator beside it, because a count with no denominator is not a rate. And every figure states its window, with a comparison to a prior period only when a real one exists. On the left are the eight tiles the KPI screen publishes: how many cases came out of how much traffic; how scores spread across the bands; which rules produced the cases; which reasons recur across them; the mix of verdicts; the share closed as not fraud; how long a case takes from raised to resolved; and what was actually done to customers. On the right, three figures that are structurally simulated. Each carries a flag and a caveat on the wire, so no surface can present it as measured. The false-negative rate is exact against planted fraud and meaningless outside this dataset. Nothing external answers a step-up, so a script settles challenges. And the fail-open figure records the fast lane's policy, not any observed failure — nothing has failed because nothing real has run. If someone asks about condition-level pricing, that is a separate analysis run outside the console — it is what found the mispriced signal. A number that cannot be trusted says so on itself, rather than in a footnote nobody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I expect: where does AI fit? The honest answer is that it fits on the authoring side, not the deciding side — and the architecture already has the seam for it. Two places. First, pricing. The system already measures what every condition is worth: how often it fires, and how often the cases it raised turned out to be fraud. Today a human reads that report; that is how the mispriced signal was found. A model could read the same history and propose the reprice — and because a price is a row, the proposal is an UPDATE that goes through the existing path: simulate against history, publish into shadow, and a named person promotes it. Second, drafting. An analyst describes a pattern in words and an agent drafts the rows. What it needs to do that is the interesting part, and it is all already published: the feature catalog, so it knows what is measurable and in what units; the operators and shapes validation will accept; the existing rules, so it does not duplicate or contradict one; the current thresholds and bands; and the measured precision of the conditions it is considering. Its output is a candidate rule as rows — not code, not a model. And the line on the right is the one I would defend hardest: an agent may draft and propose, but the score stays a sum and the explanation is still generated from rows. Nothing here weakens the claim of slide two, because nothing an agent produces can act until a person promotes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argument. Now the demo, and here is the route through it. First the queue — ordered by score, exposure and recency, with all three factors published so you can see why one case outranks another. Then a case in detail: the signals, the score taken apart line by line, and what the system could not see at the time. From there I will record a verdict — confirmed fraud, false positive, or inconclusive — which is how the system learns whether it was right. Then the measurements, each with its denominator and its caveat. Then the operator's side: authoring a rule in the console, and simulating a transaction to see what would have happened. And the one to watch for: five charges arrive on a device nobody has seen, the first four are approved, and the fifth is declined at the door — the row that lands in history says declined, not approved with a note. None of it is in the fixtures; it is computed live. Questions welcome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33"/>
        </a:solidFill>
      </p:bgPr>
    </p:bg>
    <p:spTree>
      <p:nvGrpSpPr>
        <p:cNvPr id="1" name=""/>
        <p:cNvGrpSpPr/>
        <p:nvPr/>
      </p:nvGrpSpPr>
      <p:grpSpPr>
        <a:xfrm>
          <a:off x="0" y="0"/>
          <a:ext cx="0" cy="0"/>
          <a:chOff x="0" y="0"/>
          <a:chExt cx="0" cy="0"/>
        </a:xfrm>
      </p:grpSpPr>
      <p:sp>
        <p:nvSpPr>
          <p:cNvPr id="2" name="Text 0"/>
          <p:cNvSpPr/>
          <p:nvPr/>
        </p:nvSpPr>
        <p:spPr>
          <a:xfrm>
            <a:off x="1066800" y="838200"/>
            <a:ext cx="4315093"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83A8CF"/>
                </a:solidFill>
                <a:latin typeface="Courier New" pitchFamily="34" charset="0"/>
                <a:ea typeface="Courier New" pitchFamily="34" charset="-122"/>
                <a:cs typeface="Courier New" pitchFamily="34" charset="-120"/>
              </a:rPr>
              <a:t>RISK &amp; FRAUD DETECTION</a:t>
            </a:r>
            <a:endParaRPr lang="en-US" sz="1800" dirty="0"/>
          </a:p>
        </p:txBody>
      </p:sp>
      <p:sp>
        <p:nvSpPr>
          <p:cNvPr id="3" name="Text 1"/>
          <p:cNvSpPr/>
          <p:nvPr/>
        </p:nvSpPr>
        <p:spPr>
          <a:xfrm>
            <a:off x="16864459" y="83820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E8792"/>
                </a:solidFill>
                <a:latin typeface="Courier New" pitchFamily="34" charset="0"/>
                <a:ea typeface="Courier New" pitchFamily="34" charset="-122"/>
                <a:cs typeface="Courier New" pitchFamily="34" charset="-120"/>
              </a:rPr>
              <a:t>01</a:t>
            </a:r>
            <a:endParaRPr lang="en-US" sz="1800" dirty="0"/>
          </a:p>
        </p:txBody>
      </p:sp>
      <p:sp>
        <p:nvSpPr>
          <p:cNvPr id="4" name="Text 2"/>
          <p:cNvSpPr/>
          <p:nvPr/>
        </p:nvSpPr>
        <p:spPr>
          <a:xfrm>
            <a:off x="1066800" y="3939629"/>
            <a:ext cx="17769840" cy="1066800"/>
          </a:xfrm>
          <a:prstGeom prst="rect">
            <a:avLst/>
          </a:prstGeom>
          <a:noFill/>
          <a:ln/>
        </p:spPr>
        <p:txBody>
          <a:bodyPr wrap="square" lIns="25400" tIns="25400" rIns="25400" bIns="25400" rtlCol="0" anchor="t">
            <a:normAutofit/>
          </a:bodyPr>
          <a:lstStyle/>
          <a:p>
            <a:pPr algn="l" indent="0" marL="0">
              <a:lnSpc>
                <a:spcPct val="86400"/>
              </a:lnSpc>
              <a:buNone/>
            </a:pPr>
            <a:r>
              <a:rPr lang="en-US" sz="8100" spc="-243" kern="0" dirty="0">
                <a:solidFill>
                  <a:srgbClr val="ECEFF2"/>
                </a:solidFill>
                <a:latin typeface="Arial" pitchFamily="34" charset="0"/>
                <a:ea typeface="Arial" pitchFamily="34" charset="-122"/>
                <a:cs typeface="Arial" pitchFamily="34" charset="-120"/>
              </a:rPr>
              <a:t>GlassBox</a:t>
            </a:r>
            <a:endParaRPr lang="en-US" sz="8100" dirty="0"/>
          </a:p>
        </p:txBody>
      </p:sp>
      <p:sp>
        <p:nvSpPr>
          <p:cNvPr id="5" name="Text 3"/>
          <p:cNvSpPr/>
          <p:nvPr/>
        </p:nvSpPr>
        <p:spPr>
          <a:xfrm>
            <a:off x="1066800" y="5387429"/>
            <a:ext cx="11576685" cy="1074241"/>
          </a:xfrm>
          <a:prstGeom prst="rect">
            <a:avLst/>
          </a:prstGeom>
          <a:noFill/>
          <a:ln/>
        </p:spPr>
        <p:txBody>
          <a:bodyPr wrap="square" lIns="25400" tIns="25400" rIns="25400" bIns="25400" rtlCol="0" anchor="t">
            <a:normAutofit/>
          </a:bodyPr>
          <a:lstStyle/>
          <a:p>
            <a:pPr algn="l" indent="0" marL="0">
              <a:lnSpc>
                <a:spcPct val="120889"/>
              </a:lnSpc>
              <a:buNone/>
            </a:pPr>
            <a:r>
              <a:rPr lang="en-US" sz="3000" dirty="0">
                <a:solidFill>
                  <a:srgbClr val="BEC5CC"/>
                </a:solidFill>
                <a:latin typeface="Arial" pitchFamily="34" charset="0"/>
                <a:ea typeface="Arial" pitchFamily="34" charset="-122"/>
                <a:cs typeface="Arial" pitchFamily="34" charset="-120"/>
              </a:rPr>
              <a:t>Every decision comes with the evidence that produced it — and it still adds up months later.</a:t>
            </a:r>
            <a:endParaRPr lang="en-US" sz="3000" dirty="0"/>
          </a:p>
        </p:txBody>
      </p:sp>
      <p:sp>
        <p:nvSpPr>
          <p:cNvPr id="6" name="Shape 4"/>
          <p:cNvSpPr/>
          <p:nvPr/>
        </p:nvSpPr>
        <p:spPr>
          <a:xfrm>
            <a:off x="1066800" y="9367838"/>
            <a:ext cx="495300" cy="19050"/>
          </a:xfrm>
          <a:prstGeom prst="rect">
            <a:avLst/>
          </a:prstGeom>
          <a:solidFill>
            <a:srgbClr val="5B8ABB"/>
          </a:solidFill>
          <a:ln/>
        </p:spPr>
      </p:sp>
      <p:sp>
        <p:nvSpPr>
          <p:cNvPr id="7" name="Text 5"/>
          <p:cNvSpPr/>
          <p:nvPr/>
        </p:nvSpPr>
        <p:spPr>
          <a:xfrm>
            <a:off x="1752600" y="9229725"/>
            <a:ext cx="5884262"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969FAB"/>
                </a:solidFill>
                <a:latin typeface="Courier New" pitchFamily="34" charset="0"/>
                <a:ea typeface="Courier New" pitchFamily="34" charset="-122"/>
                <a:cs typeface="Courier New" pitchFamily="34" charset="-120"/>
              </a:rPr>
              <a:t>Risk &amp; Fraud Detection · August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13227353"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Two ways to be wrong — and a third demand</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02</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Shape 3"/>
          <p:cNvSpPr/>
          <p:nvPr/>
        </p:nvSpPr>
        <p:spPr>
          <a:xfrm>
            <a:off x="1066800" y="2717453"/>
            <a:ext cx="7810500" cy="19050"/>
          </a:xfrm>
          <a:prstGeom prst="rect">
            <a:avLst/>
          </a:prstGeom>
          <a:solidFill>
            <a:srgbClr val="93573B"/>
          </a:solidFill>
          <a:ln/>
        </p:spPr>
      </p:sp>
      <p:sp>
        <p:nvSpPr>
          <p:cNvPr id="6" name="Text 4"/>
          <p:cNvSpPr/>
          <p:nvPr/>
        </p:nvSpPr>
        <p:spPr>
          <a:xfrm>
            <a:off x="1066800" y="2946053"/>
            <a:ext cx="8591550"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3573B"/>
                </a:solidFill>
                <a:latin typeface="Courier New" pitchFamily="34" charset="0"/>
                <a:ea typeface="Courier New" pitchFamily="34" charset="-122"/>
                <a:cs typeface="Courier New" pitchFamily="34" charset="-120"/>
              </a:rPr>
              <a:t>MISS IT</a:t>
            </a:r>
            <a:endParaRPr lang="en-US" sz="1800" dirty="0"/>
          </a:p>
        </p:txBody>
      </p:sp>
      <p:sp>
        <p:nvSpPr>
          <p:cNvPr id="7" name="Text 5"/>
          <p:cNvSpPr/>
          <p:nvPr/>
        </p:nvSpPr>
        <p:spPr>
          <a:xfrm>
            <a:off x="1066800" y="3355628"/>
            <a:ext cx="8591550" cy="549325"/>
          </a:xfrm>
          <a:prstGeom prst="rect">
            <a:avLst/>
          </a:prstGeom>
          <a:noFill/>
          <a:ln/>
        </p:spPr>
        <p:txBody>
          <a:bodyPr wrap="square" lIns="25400" tIns="25400" rIns="25400" bIns="25400" rtlCol="0" anchor="t">
            <a:normAutofit/>
          </a:bodyPr>
          <a:lstStyle/>
          <a:p>
            <a:pPr algn="l" indent="0" marL="0">
              <a:lnSpc>
                <a:spcPct val="107360"/>
              </a:lnSpc>
              <a:buNone/>
            </a:pPr>
            <a:r>
              <a:rPr lang="en-US" sz="3300" dirty="0">
                <a:solidFill>
                  <a:srgbClr val="1B222B"/>
                </a:solidFill>
                <a:latin typeface="Arial" pitchFamily="34" charset="0"/>
                <a:ea typeface="Arial" pitchFamily="34" charset="-122"/>
                <a:cs typeface="Arial" pitchFamily="34" charset="-120"/>
              </a:rPr>
              <a:t>Fraud goes through</a:t>
            </a:r>
            <a:endParaRPr lang="en-US" sz="3300" dirty="0"/>
          </a:p>
        </p:txBody>
      </p:sp>
      <p:sp>
        <p:nvSpPr>
          <p:cNvPr id="8" name="Text 6"/>
          <p:cNvSpPr/>
          <p:nvPr/>
        </p:nvSpPr>
        <p:spPr>
          <a:xfrm>
            <a:off x="1066800" y="3981152"/>
            <a:ext cx="8044815"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505963"/>
                </a:solidFill>
                <a:latin typeface="Arial" pitchFamily="34" charset="0"/>
                <a:ea typeface="Arial" pitchFamily="34" charset="-122"/>
                <a:cs typeface="Arial" pitchFamily="34" charset="-120"/>
              </a:rPr>
              <a:t>The bank loses money, and finds out weeks later from a chargeback.</a:t>
            </a:r>
            <a:endParaRPr lang="en-US" sz="2025" dirty="0"/>
          </a:p>
        </p:txBody>
      </p:sp>
      <p:sp>
        <p:nvSpPr>
          <p:cNvPr id="9" name="Shape 7"/>
          <p:cNvSpPr/>
          <p:nvPr/>
        </p:nvSpPr>
        <p:spPr>
          <a:xfrm>
            <a:off x="9410700" y="2717453"/>
            <a:ext cx="7810500" cy="19050"/>
          </a:xfrm>
          <a:prstGeom prst="rect">
            <a:avLst/>
          </a:prstGeom>
          <a:solidFill>
            <a:srgbClr val="3E6C9B"/>
          </a:solidFill>
          <a:ln/>
        </p:spPr>
      </p:sp>
      <p:sp>
        <p:nvSpPr>
          <p:cNvPr id="10" name="Text 8"/>
          <p:cNvSpPr/>
          <p:nvPr/>
        </p:nvSpPr>
        <p:spPr>
          <a:xfrm>
            <a:off x="9410700" y="2946053"/>
            <a:ext cx="8591550"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3E6C9B"/>
                </a:solidFill>
                <a:latin typeface="Courier New" pitchFamily="34" charset="0"/>
                <a:ea typeface="Courier New" pitchFamily="34" charset="-122"/>
                <a:cs typeface="Courier New" pitchFamily="34" charset="-120"/>
              </a:rPr>
              <a:t>OVER-CALL IT</a:t>
            </a:r>
            <a:endParaRPr lang="en-US" sz="1800" dirty="0"/>
          </a:p>
        </p:txBody>
      </p:sp>
      <p:sp>
        <p:nvSpPr>
          <p:cNvPr id="11" name="Text 9"/>
          <p:cNvSpPr/>
          <p:nvPr/>
        </p:nvSpPr>
        <p:spPr>
          <a:xfrm>
            <a:off x="9410700" y="3355628"/>
            <a:ext cx="8591550" cy="549325"/>
          </a:xfrm>
          <a:prstGeom prst="rect">
            <a:avLst/>
          </a:prstGeom>
          <a:noFill/>
          <a:ln/>
        </p:spPr>
        <p:txBody>
          <a:bodyPr wrap="square" lIns="25400" tIns="25400" rIns="25400" bIns="25400" rtlCol="0" anchor="t">
            <a:normAutofit/>
          </a:bodyPr>
          <a:lstStyle/>
          <a:p>
            <a:pPr algn="l" indent="0" marL="0">
              <a:lnSpc>
                <a:spcPct val="107360"/>
              </a:lnSpc>
              <a:buNone/>
            </a:pPr>
            <a:r>
              <a:rPr lang="en-US" sz="3300" dirty="0">
                <a:solidFill>
                  <a:srgbClr val="1B222B"/>
                </a:solidFill>
                <a:latin typeface="Arial" pitchFamily="34" charset="0"/>
                <a:ea typeface="Arial" pitchFamily="34" charset="-122"/>
                <a:cs typeface="Arial" pitchFamily="34" charset="-120"/>
              </a:rPr>
              <a:t>A real customer is stopped</a:t>
            </a:r>
            <a:endParaRPr lang="en-US" sz="3300" dirty="0"/>
          </a:p>
        </p:txBody>
      </p:sp>
      <p:sp>
        <p:nvSpPr>
          <p:cNvPr id="12" name="Text 10"/>
          <p:cNvSpPr/>
          <p:nvPr/>
        </p:nvSpPr>
        <p:spPr>
          <a:xfrm>
            <a:off x="9410700" y="3981152"/>
            <a:ext cx="8044815"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505963"/>
                </a:solidFill>
                <a:latin typeface="Arial" pitchFamily="34" charset="0"/>
                <a:ea typeface="Arial" pitchFamily="34" charset="-122"/>
                <a:cs typeface="Arial" pitchFamily="34" charset="-120"/>
              </a:rPr>
              <a:t>You have declined someone's card in a restaurant abroad. They may never trust it again.</a:t>
            </a:r>
            <a:endParaRPr lang="en-US" sz="2025" dirty="0"/>
          </a:p>
        </p:txBody>
      </p:sp>
      <p:sp>
        <p:nvSpPr>
          <p:cNvPr id="13" name="Shape 11"/>
          <p:cNvSpPr/>
          <p:nvPr/>
        </p:nvSpPr>
        <p:spPr>
          <a:xfrm>
            <a:off x="1066800" y="5222081"/>
            <a:ext cx="16154400" cy="3461742"/>
          </a:xfrm>
          <a:prstGeom prst="rect">
            <a:avLst/>
          </a:prstGeom>
          <a:solidFill>
            <a:srgbClr val="DDE9F6"/>
          </a:solidFill>
          <a:ln/>
        </p:spPr>
      </p:sp>
      <p:sp>
        <p:nvSpPr>
          <p:cNvPr id="14" name="Text 12"/>
          <p:cNvSpPr/>
          <p:nvPr/>
        </p:nvSpPr>
        <p:spPr>
          <a:xfrm>
            <a:off x="1524000" y="5622131"/>
            <a:ext cx="16764000"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385573"/>
                </a:solidFill>
                <a:latin typeface="Courier New" pitchFamily="34" charset="0"/>
                <a:ea typeface="Courier New" pitchFamily="34" charset="-122"/>
                <a:cs typeface="Courier New" pitchFamily="34" charset="-120"/>
              </a:rPr>
              <a:t>AND A THIRD</a:t>
            </a:r>
            <a:endParaRPr lang="en-US" sz="1800" dirty="0"/>
          </a:p>
        </p:txBody>
      </p:sp>
      <p:sp>
        <p:nvSpPr>
          <p:cNvPr id="15" name="Text 13"/>
          <p:cNvSpPr/>
          <p:nvPr/>
        </p:nvSpPr>
        <p:spPr>
          <a:xfrm>
            <a:off x="1524000" y="6050756"/>
            <a:ext cx="14716125" cy="1028700"/>
          </a:xfrm>
          <a:prstGeom prst="rect">
            <a:avLst/>
          </a:prstGeom>
          <a:noFill/>
          <a:ln/>
        </p:spPr>
        <p:txBody>
          <a:bodyPr wrap="square" lIns="25400" tIns="25400" rIns="25400" bIns="25400" rtlCol="0" anchor="t">
            <a:normAutofit/>
          </a:bodyPr>
          <a:lstStyle/>
          <a:p>
            <a:pPr algn="l" indent="0" marL="0">
              <a:lnSpc>
                <a:spcPct val="115556"/>
              </a:lnSpc>
              <a:buNone/>
            </a:pPr>
            <a:r>
              <a:rPr lang="en-US" sz="3000" dirty="0">
                <a:solidFill>
                  <a:srgbClr val="1B222B"/>
                </a:solidFill>
                <a:latin typeface="Arial" pitchFamily="34" charset="0"/>
                <a:ea typeface="Arial" pitchFamily="34" charset="-122"/>
                <a:cs typeface="Arial" pitchFamily="34" charset="-120"/>
              </a:rPr>
              <a:t>Every decision must arrive with an explanation that reconstructs both the score and the action — exactly, and months later.</a:t>
            </a:r>
            <a:endParaRPr lang="en-US" sz="3000" dirty="0"/>
          </a:p>
        </p:txBody>
      </p:sp>
      <p:sp>
        <p:nvSpPr>
          <p:cNvPr id="16" name="Shape 14"/>
          <p:cNvSpPr/>
          <p:nvPr/>
        </p:nvSpPr>
        <p:spPr>
          <a:xfrm>
            <a:off x="1524000" y="7327106"/>
            <a:ext cx="15240000" cy="9525"/>
          </a:xfrm>
          <a:prstGeom prst="rect">
            <a:avLst/>
          </a:prstGeom>
          <a:solidFill>
            <a:srgbClr val="C1CCD7"/>
          </a:solidFill>
          <a:ln/>
        </p:spPr>
      </p:sp>
      <p:sp>
        <p:nvSpPr>
          <p:cNvPr id="17" name="Text 15"/>
          <p:cNvSpPr/>
          <p:nvPr/>
        </p:nvSpPr>
        <p:spPr>
          <a:xfrm>
            <a:off x="1524000" y="7584281"/>
            <a:ext cx="5308491"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496684"/>
                </a:solidFill>
                <a:latin typeface="Courier New" pitchFamily="34" charset="0"/>
                <a:ea typeface="Courier New" pitchFamily="34" charset="-122"/>
                <a:cs typeface="Courier New" pitchFamily="34" charset="-120"/>
              </a:rPr>
              <a:t>WHICH EVIDENCE</a:t>
            </a:r>
            <a:endParaRPr lang="en-US" sz="1800" dirty="0"/>
          </a:p>
        </p:txBody>
      </p:sp>
      <p:sp>
        <p:nvSpPr>
          <p:cNvPr id="18" name="Text 16"/>
          <p:cNvSpPr/>
          <p:nvPr/>
        </p:nvSpPr>
        <p:spPr>
          <a:xfrm>
            <a:off x="1524000" y="7936706"/>
            <a:ext cx="5308491" cy="385167"/>
          </a:xfrm>
          <a:prstGeom prst="rect">
            <a:avLst/>
          </a:prstGeom>
          <a:noFill/>
          <a:ln/>
        </p:spPr>
        <p:txBody>
          <a:bodyPr wrap="square" lIns="25400" tIns="25400" rIns="25400" bIns="25400" rtlCol="0" anchor="t">
            <a:normAutofit/>
          </a:bodyPr>
          <a:lstStyle/>
          <a:p>
            <a:pPr algn="l" indent="0" marL="0">
              <a:lnSpc>
                <a:spcPct val="117581"/>
              </a:lnSpc>
              <a:buNone/>
            </a:pPr>
            <a:r>
              <a:rPr lang="en-US" sz="2025" dirty="0">
                <a:solidFill>
                  <a:srgbClr val="1B222B"/>
                </a:solidFill>
                <a:latin typeface="Arial" pitchFamily="34" charset="0"/>
                <a:ea typeface="Arial" pitchFamily="34" charset="-122"/>
                <a:cs typeface="Arial" pitchFamily="34" charset="-120"/>
              </a:rPr>
              <a:t>Every signal, with its points</a:t>
            </a:r>
            <a:endParaRPr lang="en-US" sz="2025" dirty="0"/>
          </a:p>
        </p:txBody>
      </p:sp>
      <p:sp>
        <p:nvSpPr>
          <p:cNvPr id="19" name="Text 17"/>
          <p:cNvSpPr/>
          <p:nvPr/>
        </p:nvSpPr>
        <p:spPr>
          <a:xfrm>
            <a:off x="6730901" y="7584281"/>
            <a:ext cx="5308655"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496684"/>
                </a:solidFill>
                <a:latin typeface="Courier New" pitchFamily="34" charset="0"/>
                <a:ea typeface="Courier New" pitchFamily="34" charset="-122"/>
                <a:cs typeface="Courier New" pitchFamily="34" charset="-120"/>
              </a:rPr>
              <a:t>WHOSE AUTHORITY</a:t>
            </a:r>
            <a:endParaRPr lang="en-US" sz="1800" dirty="0"/>
          </a:p>
        </p:txBody>
      </p:sp>
      <p:sp>
        <p:nvSpPr>
          <p:cNvPr id="20" name="Text 18"/>
          <p:cNvSpPr/>
          <p:nvPr/>
        </p:nvSpPr>
        <p:spPr>
          <a:xfrm>
            <a:off x="6730901" y="7936706"/>
            <a:ext cx="5308655" cy="385167"/>
          </a:xfrm>
          <a:prstGeom prst="rect">
            <a:avLst/>
          </a:prstGeom>
          <a:noFill/>
          <a:ln/>
        </p:spPr>
        <p:txBody>
          <a:bodyPr wrap="square" lIns="25400" tIns="25400" rIns="25400" bIns="25400" rtlCol="0" anchor="t">
            <a:normAutofit/>
          </a:bodyPr>
          <a:lstStyle/>
          <a:p>
            <a:pPr algn="l" indent="0" marL="0">
              <a:lnSpc>
                <a:spcPct val="117581"/>
              </a:lnSpc>
              <a:buNone/>
            </a:pPr>
            <a:r>
              <a:rPr lang="en-US" sz="2025" dirty="0">
                <a:solidFill>
                  <a:srgbClr val="1B222B"/>
                </a:solidFill>
                <a:latin typeface="Arial" pitchFamily="34" charset="0"/>
                <a:ea typeface="Arial" pitchFamily="34" charset="-122"/>
                <a:cs typeface="Arial" pitchFamily="34" charset="-120"/>
              </a:rPr>
              <a:t>The rule that chose the action</a:t>
            </a:r>
            <a:endParaRPr lang="en-US" sz="2025" dirty="0"/>
          </a:p>
        </p:txBody>
      </p:sp>
      <p:sp>
        <p:nvSpPr>
          <p:cNvPr id="21" name="Text 19"/>
          <p:cNvSpPr/>
          <p:nvPr/>
        </p:nvSpPr>
        <p:spPr>
          <a:xfrm>
            <a:off x="11937950" y="7584281"/>
            <a:ext cx="5308491"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496684"/>
                </a:solidFill>
                <a:latin typeface="Courier New" pitchFamily="34" charset="0"/>
                <a:ea typeface="Courier New" pitchFamily="34" charset="-122"/>
                <a:cs typeface="Courier New" pitchFamily="34" charset="-120"/>
              </a:rPr>
              <a:t>WHAT WAS MISSING</a:t>
            </a:r>
            <a:endParaRPr lang="en-US" sz="1800" dirty="0"/>
          </a:p>
        </p:txBody>
      </p:sp>
      <p:sp>
        <p:nvSpPr>
          <p:cNvPr id="22" name="Text 20"/>
          <p:cNvSpPr/>
          <p:nvPr/>
        </p:nvSpPr>
        <p:spPr>
          <a:xfrm>
            <a:off x="11937950" y="7936706"/>
            <a:ext cx="5308491" cy="385167"/>
          </a:xfrm>
          <a:prstGeom prst="rect">
            <a:avLst/>
          </a:prstGeom>
          <a:noFill/>
          <a:ln/>
        </p:spPr>
        <p:txBody>
          <a:bodyPr wrap="square" lIns="25400" tIns="25400" rIns="25400" bIns="25400" rtlCol="0" anchor="t">
            <a:normAutofit/>
          </a:bodyPr>
          <a:lstStyle/>
          <a:p>
            <a:pPr algn="l" indent="0" marL="0">
              <a:lnSpc>
                <a:spcPct val="117581"/>
              </a:lnSpc>
              <a:buNone/>
            </a:pPr>
            <a:r>
              <a:rPr lang="en-US" sz="2025" dirty="0">
                <a:solidFill>
                  <a:srgbClr val="1B222B"/>
                </a:solidFill>
                <a:latin typeface="Arial" pitchFamily="34" charset="0"/>
                <a:ea typeface="Arial" pitchFamily="34" charset="-122"/>
                <a:cs typeface="Arial" pitchFamily="34" charset="-120"/>
              </a:rPr>
              <a:t>Evidence it could not see, named</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11388224"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What this proves, and what it does not</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03</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Text 3"/>
          <p:cNvSpPr/>
          <p:nvPr/>
        </p:nvSpPr>
        <p:spPr>
          <a:xfrm>
            <a:off x="1066800" y="2257425"/>
            <a:ext cx="8413433"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E6C9B"/>
                </a:solidFill>
                <a:latin typeface="Courier New" pitchFamily="34" charset="0"/>
                <a:ea typeface="Courier New" pitchFamily="34" charset="-122"/>
                <a:cs typeface="Courier New" pitchFamily="34" charset="-120"/>
              </a:rPr>
              <a:t>PROVES</a:t>
            </a:r>
            <a:endParaRPr lang="en-US" sz="1800" dirty="0"/>
          </a:p>
        </p:txBody>
      </p:sp>
      <p:sp>
        <p:nvSpPr>
          <p:cNvPr id="6" name="Text 4"/>
          <p:cNvSpPr/>
          <p:nvPr/>
        </p:nvSpPr>
        <p:spPr>
          <a:xfrm>
            <a:off x="1066800" y="2762250"/>
            <a:ext cx="7878032"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1B222B"/>
                </a:solidFill>
                <a:latin typeface="Arial" pitchFamily="34" charset="0"/>
                <a:ea typeface="Arial" pitchFamily="34" charset="-122"/>
                <a:cs typeface="Arial" pitchFamily="34" charset="-120"/>
              </a:rPr>
              <a:t>Scores are additive and fully decomposable — verified in the database, not asserted</a:t>
            </a:r>
            <a:endParaRPr lang="en-US" sz="2025" dirty="0"/>
          </a:p>
        </p:txBody>
      </p:sp>
      <p:sp>
        <p:nvSpPr>
          <p:cNvPr id="7" name="Text 5"/>
          <p:cNvSpPr/>
          <p:nvPr/>
        </p:nvSpPr>
        <p:spPr>
          <a:xfrm>
            <a:off x="1066800" y="3717429"/>
            <a:ext cx="8413433" cy="410914"/>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1B222B"/>
                </a:solidFill>
                <a:latin typeface="Arial" pitchFamily="34" charset="0"/>
                <a:ea typeface="Arial" pitchFamily="34" charset="-122"/>
                <a:cs typeface="Arial" pitchFamily="34" charset="-120"/>
              </a:rPr>
              <a:t>Four structurally different fraud shapes fit one model</a:t>
            </a:r>
            <a:endParaRPr lang="en-US" sz="2025" dirty="0"/>
          </a:p>
        </p:txBody>
      </p:sp>
      <p:sp>
        <p:nvSpPr>
          <p:cNvPr id="8" name="Text 6"/>
          <p:cNvSpPr/>
          <p:nvPr/>
        </p:nvSpPr>
        <p:spPr>
          <a:xfrm>
            <a:off x="1066800" y="4299793"/>
            <a:ext cx="7878032"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1B222B"/>
                </a:solidFill>
                <a:latin typeface="Arial" pitchFamily="34" charset="0"/>
                <a:ea typeface="Arial" pitchFamily="34" charset="-122"/>
                <a:cs typeface="Arial" pitchFamily="34" charset="-120"/>
              </a:rPr>
              <a:t>Evidence of innocence can hold a transaction below the line and cap the action</a:t>
            </a:r>
            <a:endParaRPr lang="en-US" sz="2025" dirty="0"/>
          </a:p>
        </p:txBody>
      </p:sp>
      <p:sp>
        <p:nvSpPr>
          <p:cNvPr id="9" name="Text 7"/>
          <p:cNvSpPr/>
          <p:nvPr/>
        </p:nvSpPr>
        <p:spPr>
          <a:xfrm>
            <a:off x="1066800" y="5254972"/>
            <a:ext cx="8413433" cy="410914"/>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1B222B"/>
                </a:solidFill>
                <a:latin typeface="Arial" pitchFamily="34" charset="0"/>
                <a:ea typeface="Arial" pitchFamily="34" charset="-122"/>
                <a:cs typeface="Arial" pitchFamily="34" charset="-120"/>
              </a:rPr>
              <a:t>A charge can be stopped at the door, not regretted afterwards</a:t>
            </a:r>
            <a:endParaRPr lang="en-US" sz="2025" dirty="0"/>
          </a:p>
        </p:txBody>
      </p:sp>
      <p:sp>
        <p:nvSpPr>
          <p:cNvPr id="10" name="Text 8"/>
          <p:cNvSpPr/>
          <p:nvPr/>
        </p:nvSpPr>
        <p:spPr>
          <a:xfrm>
            <a:off x="1066800" y="5837337"/>
            <a:ext cx="7878032"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1B222B"/>
                </a:solidFill>
                <a:latin typeface="Arial" pitchFamily="34" charset="0"/>
                <a:ea typeface="Arial" pitchFamily="34" charset="-122"/>
                <a:cs typeface="Arial" pitchFamily="34" charset="-120"/>
              </a:rPr>
              <a:t>A rule can be written, simulated, shadowed and promoted with no release</a:t>
            </a:r>
            <a:endParaRPr lang="en-US" sz="2025" dirty="0"/>
          </a:p>
        </p:txBody>
      </p:sp>
      <p:sp>
        <p:nvSpPr>
          <p:cNvPr id="11" name="Text 9"/>
          <p:cNvSpPr/>
          <p:nvPr/>
        </p:nvSpPr>
        <p:spPr>
          <a:xfrm>
            <a:off x="9572625" y="2257425"/>
            <a:ext cx="8413433"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93573B"/>
                </a:solidFill>
                <a:latin typeface="Courier New" pitchFamily="34" charset="0"/>
                <a:ea typeface="Courier New" pitchFamily="34" charset="-122"/>
                <a:cs typeface="Courier New" pitchFamily="34" charset="-120"/>
              </a:rPr>
              <a:t>DOES NOT PROVE</a:t>
            </a:r>
            <a:endParaRPr lang="en-US" sz="1800" dirty="0"/>
          </a:p>
        </p:txBody>
      </p:sp>
      <p:sp>
        <p:nvSpPr>
          <p:cNvPr id="12" name="Text 10"/>
          <p:cNvSpPr/>
          <p:nvPr/>
        </p:nvSpPr>
        <p:spPr>
          <a:xfrm>
            <a:off x="9572625" y="2762250"/>
            <a:ext cx="7878032"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Detection quality — synthetic fraud is fraud we already knew how to describe</a:t>
            </a:r>
            <a:endParaRPr lang="en-US" sz="2025" dirty="0"/>
          </a:p>
        </p:txBody>
      </p:sp>
      <p:sp>
        <p:nvSpPr>
          <p:cNvPr id="13" name="Text 11"/>
          <p:cNvSpPr/>
          <p:nvPr/>
        </p:nvSpPr>
        <p:spPr>
          <a:xfrm>
            <a:off x="9572625" y="3717429"/>
            <a:ext cx="7878032"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Throughput or real latency; the millisecond budget is a design target</a:t>
            </a:r>
            <a:endParaRPr lang="en-US" sz="2025" dirty="0"/>
          </a:p>
        </p:txBody>
      </p:sp>
      <p:sp>
        <p:nvSpPr>
          <p:cNvPr id="14" name="Text 12"/>
          <p:cNvSpPr/>
          <p:nvPr/>
        </p:nvSpPr>
        <p:spPr>
          <a:xfrm>
            <a:off x="9572625" y="4672608"/>
            <a:ext cx="8413433" cy="410914"/>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Resilience — nothing has failed, because nothing real has run</a:t>
            </a:r>
            <a:endParaRPr lang="en-US" sz="2025" dirty="0"/>
          </a:p>
        </p:txBody>
      </p:sp>
      <p:sp>
        <p:nvSpPr>
          <p:cNvPr id="15" name="Text 13"/>
          <p:cNvSpPr/>
          <p:nvPr/>
        </p:nvSpPr>
        <p:spPr>
          <a:xfrm>
            <a:off x="9572625" y="5254972"/>
            <a:ext cx="7878032"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That a stopped charge can be released; nothing answers a step-up yet</a:t>
            </a:r>
            <a:endParaRPr lang="en-US" sz="2025" dirty="0"/>
          </a:p>
        </p:txBody>
      </p:sp>
      <p:sp>
        <p:nvSpPr>
          <p:cNvPr id="16" name="Text 14"/>
          <p:cNvSpPr/>
          <p:nvPr/>
        </p:nvSpPr>
        <p:spPr>
          <a:xfrm>
            <a:off x="9572625" y="6210151"/>
            <a:ext cx="8413433" cy="410914"/>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That analysts trust it</a:t>
            </a:r>
            <a:endParaRPr lang="en-US" sz="2025" dirty="0"/>
          </a:p>
        </p:txBody>
      </p:sp>
      <p:sp>
        <p:nvSpPr>
          <p:cNvPr id="17" name="Shape 15"/>
          <p:cNvSpPr/>
          <p:nvPr/>
        </p:nvSpPr>
        <p:spPr>
          <a:xfrm>
            <a:off x="1066800" y="8414445"/>
            <a:ext cx="16154400" cy="9525"/>
          </a:xfrm>
          <a:prstGeom prst="rect">
            <a:avLst/>
          </a:prstGeom>
          <a:solidFill>
            <a:srgbClr val="CED5DC"/>
          </a:solidFill>
          <a:ln/>
        </p:spPr>
      </p:sp>
      <p:sp>
        <p:nvSpPr>
          <p:cNvPr id="18" name="Text 16"/>
          <p:cNvSpPr/>
          <p:nvPr/>
        </p:nvSpPr>
        <p:spPr>
          <a:xfrm>
            <a:off x="1066800" y="8671620"/>
            <a:ext cx="16639032" cy="891480"/>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1B222B"/>
                </a:solidFill>
                <a:latin typeface="Arial" pitchFamily="34" charset="0"/>
                <a:ea typeface="Arial" pitchFamily="34" charset="-122"/>
                <a:cs typeface="Arial" pitchFamily="34" charset="-120"/>
              </a:rPr>
              <a:t>Before real money: real authentication, a real step-up integration, and continuous integration so the guardrails run without being remembered.</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6936596"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How the data is layered</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04</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Text 3"/>
          <p:cNvSpPr/>
          <p:nvPr/>
        </p:nvSpPr>
        <p:spPr>
          <a:xfrm>
            <a:off x="1160562" y="2295525"/>
            <a:ext cx="212378" cy="285750"/>
          </a:xfrm>
          <a:prstGeom prst="rect">
            <a:avLst/>
          </a:prstGeom>
          <a:noFill/>
          <a:ln/>
        </p:spPr>
        <p:txBody>
          <a:bodyPr wrap="square" lIns="25400" tIns="25400" rIns="25400" bIns="25400" rtlCol="0" anchor="t">
            <a:normAutofit/>
          </a:bodyPr>
          <a:lstStyle/>
          <a:p>
            <a:pPr algn="l" indent="0" marL="0">
              <a:lnSpc>
                <a:spcPct val="86667"/>
              </a:lnSpc>
              <a:buNone/>
            </a:pPr>
            <a:r>
              <a:rPr lang="en-US" sz="1950" dirty="0">
                <a:solidFill>
                  <a:srgbClr val="3E6C9B"/>
                </a:solidFill>
                <a:latin typeface="Courier New" pitchFamily="34" charset="0"/>
                <a:ea typeface="Courier New" pitchFamily="34" charset="-122"/>
                <a:cs typeface="Courier New" pitchFamily="34" charset="-120"/>
              </a:rPr>
              <a:t>▲</a:t>
            </a:r>
            <a:endParaRPr lang="en-US" sz="1950" dirty="0"/>
          </a:p>
        </p:txBody>
      </p:sp>
      <p:sp>
        <p:nvSpPr>
          <p:cNvPr id="6" name="Shape 4"/>
          <p:cNvSpPr/>
          <p:nvPr/>
        </p:nvSpPr>
        <p:spPr>
          <a:xfrm>
            <a:off x="1219200" y="2543175"/>
            <a:ext cx="19050" cy="6943725"/>
          </a:xfrm>
          <a:prstGeom prst="rect">
            <a:avLst/>
          </a:prstGeom>
          <a:gradFill rotWithShape="1">
            <a:gsLst>
              <a:gs pos="0">
                <a:srgbClr val="D2D8DF">
                  <a:alpha val="100000"/>
                </a:srgbClr>
              </a:gs>
              <a:gs pos="100000">
                <a:srgbClr val="3E6C9B">
                  <a:alpha val="100000"/>
                </a:srgbClr>
              </a:gs>
            </a:gsLst>
            <a:lin ang="16200000" scaled="0"/>
          </a:gradFill>
          <a:ln/>
        </p:spPr>
      </p:sp>
      <p:sp>
        <p:nvSpPr>
          <p:cNvPr id="7" name="Shape 5"/>
          <p:cNvSpPr/>
          <p:nvPr/>
        </p:nvSpPr>
        <p:spPr>
          <a:xfrm>
            <a:off x="1638300" y="2257425"/>
            <a:ext cx="8709571" cy="638175"/>
          </a:xfrm>
          <a:prstGeom prst="rect">
            <a:avLst/>
          </a:prstGeom>
          <a:solidFill>
            <a:srgbClr val="E7EEF5"/>
          </a:solidFill>
          <a:ln/>
        </p:spPr>
      </p:sp>
      <p:sp>
        <p:nvSpPr>
          <p:cNvPr id="8" name="Text 6"/>
          <p:cNvSpPr/>
          <p:nvPr/>
        </p:nvSpPr>
        <p:spPr>
          <a:xfrm>
            <a:off x="1866900" y="2390775"/>
            <a:ext cx="293370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Feedback</a:t>
            </a:r>
            <a:endParaRPr lang="en-US" sz="2400" dirty="0"/>
          </a:p>
        </p:txBody>
      </p:sp>
      <p:sp>
        <p:nvSpPr>
          <p:cNvPr id="9" name="Text 7"/>
          <p:cNvSpPr/>
          <p:nvPr/>
        </p:nvSpPr>
        <p:spPr>
          <a:xfrm>
            <a:off x="4781550" y="2428875"/>
            <a:ext cx="587149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analyst verdicts</a:t>
            </a:r>
            <a:endParaRPr lang="en-US" sz="1800" dirty="0"/>
          </a:p>
        </p:txBody>
      </p:sp>
      <p:sp>
        <p:nvSpPr>
          <p:cNvPr id="10" name="Text 8"/>
          <p:cNvSpPr/>
          <p:nvPr/>
        </p:nvSpPr>
        <p:spPr>
          <a:xfrm>
            <a:off x="1847850" y="2952750"/>
            <a:ext cx="213420" cy="266700"/>
          </a:xfrm>
          <a:prstGeom prst="rect">
            <a:avLst/>
          </a:prstGeom>
          <a:noFill/>
          <a:ln/>
        </p:spPr>
        <p:txBody>
          <a:bodyPr wrap="square" lIns="25400" tIns="25400" rIns="25400" bIns="25400" rtlCol="0" anchor="t">
            <a:normAutofit/>
          </a:bodyPr>
          <a:lstStyle/>
          <a:p>
            <a:pPr algn="l" indent="0" marL="0">
              <a:lnSpc>
                <a:spcPct val="88889"/>
              </a:lnSpc>
              <a:buNone/>
            </a:pPr>
            <a:r>
              <a:rPr lang="en-US" sz="1800" dirty="0">
                <a:solidFill>
                  <a:srgbClr val="819BB7"/>
                </a:solidFill>
                <a:latin typeface="Courier New" pitchFamily="34" charset="0"/>
                <a:ea typeface="Courier New" pitchFamily="34" charset="-122"/>
                <a:cs typeface="Courier New" pitchFamily="34" charset="-120"/>
              </a:rPr>
              <a:t>↑</a:t>
            </a:r>
            <a:endParaRPr lang="en-US" sz="1800" dirty="0"/>
          </a:p>
        </p:txBody>
      </p:sp>
      <p:sp>
        <p:nvSpPr>
          <p:cNvPr id="11" name="Shape 9"/>
          <p:cNvSpPr/>
          <p:nvPr/>
        </p:nvSpPr>
        <p:spPr>
          <a:xfrm>
            <a:off x="1638300" y="3238500"/>
            <a:ext cx="8709571" cy="657225"/>
          </a:xfrm>
          <a:prstGeom prst="rect">
            <a:avLst/>
          </a:prstGeom>
          <a:solidFill>
            <a:srgbClr val="E7EEF5"/>
          </a:solidFill>
          <a:ln/>
        </p:spPr>
      </p:sp>
      <p:sp>
        <p:nvSpPr>
          <p:cNvPr id="12" name="Text 10"/>
          <p:cNvSpPr/>
          <p:nvPr/>
        </p:nvSpPr>
        <p:spPr>
          <a:xfrm>
            <a:off x="1866900" y="3381375"/>
            <a:ext cx="293370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Decisions</a:t>
            </a:r>
            <a:endParaRPr lang="en-US" sz="2400" dirty="0"/>
          </a:p>
        </p:txBody>
      </p:sp>
      <p:sp>
        <p:nvSpPr>
          <p:cNvPr id="13" name="Text 11"/>
          <p:cNvSpPr/>
          <p:nvPr/>
        </p:nvSpPr>
        <p:spPr>
          <a:xfrm>
            <a:off x="4781550" y="3419475"/>
            <a:ext cx="587149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scores · alerts · signals</a:t>
            </a:r>
            <a:endParaRPr lang="en-US" sz="1800" dirty="0"/>
          </a:p>
        </p:txBody>
      </p:sp>
      <p:sp>
        <p:nvSpPr>
          <p:cNvPr id="14" name="Text 12"/>
          <p:cNvSpPr/>
          <p:nvPr/>
        </p:nvSpPr>
        <p:spPr>
          <a:xfrm>
            <a:off x="1847850" y="3952875"/>
            <a:ext cx="213420" cy="266700"/>
          </a:xfrm>
          <a:prstGeom prst="rect">
            <a:avLst/>
          </a:prstGeom>
          <a:noFill/>
          <a:ln/>
        </p:spPr>
        <p:txBody>
          <a:bodyPr wrap="square" lIns="25400" tIns="25400" rIns="25400" bIns="25400" rtlCol="0" anchor="t">
            <a:normAutofit/>
          </a:bodyPr>
          <a:lstStyle/>
          <a:p>
            <a:pPr algn="l" indent="0" marL="0">
              <a:lnSpc>
                <a:spcPct val="88889"/>
              </a:lnSpc>
              <a:buNone/>
            </a:pPr>
            <a:r>
              <a:rPr lang="en-US" sz="1800" dirty="0">
                <a:solidFill>
                  <a:srgbClr val="819BB7"/>
                </a:solidFill>
                <a:latin typeface="Courier New" pitchFamily="34" charset="0"/>
                <a:ea typeface="Courier New" pitchFamily="34" charset="-122"/>
                <a:cs typeface="Courier New" pitchFamily="34" charset="-120"/>
              </a:rPr>
              <a:t>↑</a:t>
            </a:r>
            <a:endParaRPr lang="en-US" sz="1800" dirty="0"/>
          </a:p>
        </p:txBody>
      </p:sp>
      <p:sp>
        <p:nvSpPr>
          <p:cNvPr id="15" name="Shape 13"/>
          <p:cNvSpPr/>
          <p:nvPr/>
        </p:nvSpPr>
        <p:spPr>
          <a:xfrm>
            <a:off x="1638300" y="4238625"/>
            <a:ext cx="8709571" cy="733425"/>
          </a:xfrm>
          <a:prstGeom prst="rect">
            <a:avLst/>
          </a:prstGeom>
          <a:solidFill>
            <a:srgbClr val="D0E0F2"/>
          </a:solidFill>
          <a:ln/>
        </p:spPr>
      </p:sp>
      <p:sp>
        <p:nvSpPr>
          <p:cNvPr id="16" name="Text 14"/>
          <p:cNvSpPr/>
          <p:nvPr/>
        </p:nvSpPr>
        <p:spPr>
          <a:xfrm>
            <a:off x="1866900" y="4419600"/>
            <a:ext cx="293370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E3A56"/>
                </a:solidFill>
                <a:latin typeface="Arial" pitchFamily="34" charset="0"/>
                <a:ea typeface="Arial" pitchFamily="34" charset="-122"/>
                <a:cs typeface="Arial" pitchFamily="34" charset="-120"/>
              </a:rPr>
              <a:t>Rules</a:t>
            </a:r>
            <a:endParaRPr lang="en-US" sz="2400" dirty="0"/>
          </a:p>
        </p:txBody>
      </p:sp>
      <p:sp>
        <p:nvSpPr>
          <p:cNvPr id="17" name="Text 15"/>
          <p:cNvSpPr/>
          <p:nvPr/>
        </p:nvSpPr>
        <p:spPr>
          <a:xfrm>
            <a:off x="4781550" y="4457700"/>
            <a:ext cx="587149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84F68"/>
                </a:solidFill>
                <a:latin typeface="Courier New" pitchFamily="34" charset="0"/>
                <a:ea typeface="Courier New" pitchFamily="34" charset="-122"/>
                <a:cs typeface="Courier New" pitchFamily="34" charset="-120"/>
              </a:rPr>
              <a:t>conditions · thresholds · points</a:t>
            </a:r>
            <a:endParaRPr lang="en-US" sz="1800" dirty="0"/>
          </a:p>
        </p:txBody>
      </p:sp>
      <p:sp>
        <p:nvSpPr>
          <p:cNvPr id="18" name="Text 16"/>
          <p:cNvSpPr/>
          <p:nvPr/>
        </p:nvSpPr>
        <p:spPr>
          <a:xfrm>
            <a:off x="1847850" y="5029200"/>
            <a:ext cx="213420" cy="266700"/>
          </a:xfrm>
          <a:prstGeom prst="rect">
            <a:avLst/>
          </a:prstGeom>
          <a:noFill/>
          <a:ln/>
        </p:spPr>
        <p:txBody>
          <a:bodyPr wrap="square" lIns="25400" tIns="25400" rIns="25400" bIns="25400" rtlCol="0" anchor="t">
            <a:normAutofit/>
          </a:bodyPr>
          <a:lstStyle/>
          <a:p>
            <a:pPr algn="l" indent="0" marL="0">
              <a:lnSpc>
                <a:spcPct val="88889"/>
              </a:lnSpc>
              <a:buNone/>
            </a:pPr>
            <a:r>
              <a:rPr lang="en-US" sz="1800" dirty="0">
                <a:solidFill>
                  <a:srgbClr val="5A7EA3"/>
                </a:solidFill>
                <a:latin typeface="Courier New" pitchFamily="34" charset="0"/>
                <a:ea typeface="Courier New" pitchFamily="34" charset="-122"/>
                <a:cs typeface="Courier New" pitchFamily="34" charset="-120"/>
              </a:rPr>
              <a:t>↑</a:t>
            </a:r>
            <a:endParaRPr lang="en-US" sz="1800" dirty="0"/>
          </a:p>
        </p:txBody>
      </p:sp>
      <p:sp>
        <p:nvSpPr>
          <p:cNvPr id="19" name="Shape 17"/>
          <p:cNvSpPr/>
          <p:nvPr/>
        </p:nvSpPr>
        <p:spPr>
          <a:xfrm>
            <a:off x="1638300" y="5314950"/>
            <a:ext cx="8709571" cy="733425"/>
          </a:xfrm>
          <a:prstGeom prst="rect">
            <a:avLst/>
          </a:prstGeom>
          <a:solidFill>
            <a:srgbClr val="D0E0F2"/>
          </a:solidFill>
          <a:ln/>
        </p:spPr>
      </p:sp>
      <p:sp>
        <p:nvSpPr>
          <p:cNvPr id="20" name="Text 18"/>
          <p:cNvSpPr/>
          <p:nvPr/>
        </p:nvSpPr>
        <p:spPr>
          <a:xfrm>
            <a:off x="1866900" y="5495925"/>
            <a:ext cx="293370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E3A56"/>
                </a:solidFill>
                <a:latin typeface="Arial" pitchFamily="34" charset="0"/>
                <a:ea typeface="Arial" pitchFamily="34" charset="-122"/>
                <a:cs typeface="Arial" pitchFamily="34" charset="-120"/>
              </a:rPr>
              <a:t>Features</a:t>
            </a:r>
            <a:endParaRPr lang="en-US" sz="2400" dirty="0"/>
          </a:p>
        </p:txBody>
      </p:sp>
      <p:sp>
        <p:nvSpPr>
          <p:cNvPr id="21" name="Text 19"/>
          <p:cNvSpPr/>
          <p:nvPr/>
        </p:nvSpPr>
        <p:spPr>
          <a:xfrm>
            <a:off x="4781550" y="5534025"/>
            <a:ext cx="587149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84F68"/>
                </a:solidFill>
                <a:latin typeface="Courier New" pitchFamily="34" charset="0"/>
                <a:ea typeface="Courier New" pitchFamily="34" charset="-122"/>
                <a:cs typeface="Courier New" pitchFamily="34" charset="-120"/>
              </a:rPr>
              <a:t>catalog · computed values</a:t>
            </a:r>
            <a:endParaRPr lang="en-US" sz="1800" dirty="0"/>
          </a:p>
        </p:txBody>
      </p:sp>
      <p:sp>
        <p:nvSpPr>
          <p:cNvPr id="22" name="Text 20"/>
          <p:cNvSpPr/>
          <p:nvPr/>
        </p:nvSpPr>
        <p:spPr>
          <a:xfrm>
            <a:off x="1847850" y="6105525"/>
            <a:ext cx="213420" cy="266700"/>
          </a:xfrm>
          <a:prstGeom prst="rect">
            <a:avLst/>
          </a:prstGeom>
          <a:noFill/>
          <a:ln/>
        </p:spPr>
        <p:txBody>
          <a:bodyPr wrap="square" lIns="25400" tIns="25400" rIns="25400" bIns="25400" rtlCol="0" anchor="t">
            <a:normAutofit/>
          </a:bodyPr>
          <a:lstStyle/>
          <a:p>
            <a:pPr algn="l" indent="0" marL="0">
              <a:lnSpc>
                <a:spcPct val="88889"/>
              </a:lnSpc>
              <a:buNone/>
            </a:pPr>
            <a:r>
              <a:rPr lang="en-US" sz="1800" dirty="0">
                <a:solidFill>
                  <a:srgbClr val="819BB7"/>
                </a:solidFill>
                <a:latin typeface="Courier New" pitchFamily="34" charset="0"/>
                <a:ea typeface="Courier New" pitchFamily="34" charset="-122"/>
                <a:cs typeface="Courier New" pitchFamily="34" charset="-120"/>
              </a:rPr>
              <a:t>↑</a:t>
            </a:r>
            <a:endParaRPr lang="en-US" sz="1800" dirty="0"/>
          </a:p>
        </p:txBody>
      </p:sp>
      <p:sp>
        <p:nvSpPr>
          <p:cNvPr id="23" name="Shape 21"/>
          <p:cNvSpPr/>
          <p:nvPr/>
        </p:nvSpPr>
        <p:spPr>
          <a:xfrm>
            <a:off x="1638300" y="6391275"/>
            <a:ext cx="8709571" cy="657225"/>
          </a:xfrm>
          <a:prstGeom prst="rect">
            <a:avLst/>
          </a:prstGeom>
          <a:solidFill>
            <a:srgbClr val="E7EEF5"/>
          </a:solidFill>
          <a:ln/>
        </p:spPr>
      </p:sp>
      <p:sp>
        <p:nvSpPr>
          <p:cNvPr id="24" name="Text 22"/>
          <p:cNvSpPr/>
          <p:nvPr/>
        </p:nvSpPr>
        <p:spPr>
          <a:xfrm>
            <a:off x="1866900" y="6534150"/>
            <a:ext cx="293370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Links</a:t>
            </a:r>
            <a:endParaRPr lang="en-US" sz="2400" dirty="0"/>
          </a:p>
        </p:txBody>
      </p:sp>
      <p:sp>
        <p:nvSpPr>
          <p:cNvPr id="25" name="Text 23"/>
          <p:cNvSpPr/>
          <p:nvPr/>
        </p:nvSpPr>
        <p:spPr>
          <a:xfrm>
            <a:off x="4781550" y="6572250"/>
            <a:ext cx="587149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entity links · discovered clusters</a:t>
            </a:r>
            <a:endParaRPr lang="en-US" sz="1800" dirty="0"/>
          </a:p>
        </p:txBody>
      </p:sp>
      <p:sp>
        <p:nvSpPr>
          <p:cNvPr id="26" name="Text 24"/>
          <p:cNvSpPr/>
          <p:nvPr/>
        </p:nvSpPr>
        <p:spPr>
          <a:xfrm>
            <a:off x="1847850" y="7105650"/>
            <a:ext cx="213420" cy="266700"/>
          </a:xfrm>
          <a:prstGeom prst="rect">
            <a:avLst/>
          </a:prstGeom>
          <a:noFill/>
          <a:ln/>
        </p:spPr>
        <p:txBody>
          <a:bodyPr wrap="square" lIns="25400" tIns="25400" rIns="25400" bIns="25400" rtlCol="0" anchor="t">
            <a:normAutofit/>
          </a:bodyPr>
          <a:lstStyle/>
          <a:p>
            <a:pPr algn="l" indent="0" marL="0">
              <a:lnSpc>
                <a:spcPct val="88889"/>
              </a:lnSpc>
              <a:buNone/>
            </a:pPr>
            <a:r>
              <a:rPr lang="en-US" sz="1800" dirty="0">
                <a:solidFill>
                  <a:srgbClr val="819BB7"/>
                </a:solidFill>
                <a:latin typeface="Courier New" pitchFamily="34" charset="0"/>
                <a:ea typeface="Courier New" pitchFamily="34" charset="-122"/>
                <a:cs typeface="Courier New" pitchFamily="34" charset="-120"/>
              </a:rPr>
              <a:t>↑</a:t>
            </a:r>
            <a:endParaRPr lang="en-US" sz="1800" dirty="0"/>
          </a:p>
        </p:txBody>
      </p:sp>
      <p:sp>
        <p:nvSpPr>
          <p:cNvPr id="27" name="Shape 25"/>
          <p:cNvSpPr/>
          <p:nvPr/>
        </p:nvSpPr>
        <p:spPr>
          <a:xfrm>
            <a:off x="1638300" y="7391400"/>
            <a:ext cx="8709571" cy="657225"/>
          </a:xfrm>
          <a:prstGeom prst="rect">
            <a:avLst/>
          </a:prstGeom>
          <a:solidFill>
            <a:srgbClr val="E7EEF5"/>
          </a:solidFill>
          <a:ln/>
        </p:spPr>
      </p:sp>
      <p:sp>
        <p:nvSpPr>
          <p:cNvPr id="28" name="Text 26"/>
          <p:cNvSpPr/>
          <p:nvPr/>
        </p:nvSpPr>
        <p:spPr>
          <a:xfrm>
            <a:off x="1866900" y="7534275"/>
            <a:ext cx="293370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Raw capture</a:t>
            </a:r>
            <a:endParaRPr lang="en-US" sz="2400" dirty="0"/>
          </a:p>
        </p:txBody>
      </p:sp>
      <p:sp>
        <p:nvSpPr>
          <p:cNvPr id="29" name="Text 27"/>
          <p:cNvSpPr/>
          <p:nvPr/>
        </p:nvSpPr>
        <p:spPr>
          <a:xfrm>
            <a:off x="4781550" y="7572375"/>
            <a:ext cx="587149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transactions · events</a:t>
            </a:r>
            <a:endParaRPr lang="en-US" sz="1800" dirty="0"/>
          </a:p>
        </p:txBody>
      </p:sp>
      <p:sp>
        <p:nvSpPr>
          <p:cNvPr id="30" name="Text 28"/>
          <p:cNvSpPr/>
          <p:nvPr/>
        </p:nvSpPr>
        <p:spPr>
          <a:xfrm>
            <a:off x="1847850" y="8105775"/>
            <a:ext cx="213420" cy="266700"/>
          </a:xfrm>
          <a:prstGeom prst="rect">
            <a:avLst/>
          </a:prstGeom>
          <a:noFill/>
          <a:ln/>
        </p:spPr>
        <p:txBody>
          <a:bodyPr wrap="square" lIns="25400" tIns="25400" rIns="25400" bIns="25400" rtlCol="0" anchor="t">
            <a:normAutofit/>
          </a:bodyPr>
          <a:lstStyle/>
          <a:p>
            <a:pPr algn="l" indent="0" marL="0">
              <a:lnSpc>
                <a:spcPct val="88889"/>
              </a:lnSpc>
              <a:buNone/>
            </a:pPr>
            <a:r>
              <a:rPr lang="en-US" sz="1800" dirty="0">
                <a:solidFill>
                  <a:srgbClr val="819BB7"/>
                </a:solidFill>
                <a:latin typeface="Courier New" pitchFamily="34" charset="0"/>
                <a:ea typeface="Courier New" pitchFamily="34" charset="-122"/>
                <a:cs typeface="Courier New" pitchFamily="34" charset="-120"/>
              </a:rPr>
              <a:t>↑</a:t>
            </a:r>
            <a:endParaRPr lang="en-US" sz="1800" dirty="0"/>
          </a:p>
        </p:txBody>
      </p:sp>
      <p:sp>
        <p:nvSpPr>
          <p:cNvPr id="31" name="Shape 29"/>
          <p:cNvSpPr/>
          <p:nvPr/>
        </p:nvSpPr>
        <p:spPr>
          <a:xfrm>
            <a:off x="1638300" y="8391525"/>
            <a:ext cx="8709571" cy="657225"/>
          </a:xfrm>
          <a:prstGeom prst="rect">
            <a:avLst/>
          </a:prstGeom>
          <a:solidFill>
            <a:srgbClr val="E7EEF5"/>
          </a:solidFill>
          <a:ln/>
        </p:spPr>
      </p:sp>
      <p:sp>
        <p:nvSpPr>
          <p:cNvPr id="32" name="Text 30"/>
          <p:cNvSpPr/>
          <p:nvPr/>
        </p:nvSpPr>
        <p:spPr>
          <a:xfrm>
            <a:off x="1866900" y="8534400"/>
            <a:ext cx="293370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Dimensions</a:t>
            </a:r>
            <a:endParaRPr lang="en-US" sz="2400" dirty="0"/>
          </a:p>
        </p:txBody>
      </p:sp>
      <p:sp>
        <p:nvSpPr>
          <p:cNvPr id="33" name="Text 31"/>
          <p:cNvSpPr/>
          <p:nvPr/>
        </p:nvSpPr>
        <p:spPr>
          <a:xfrm>
            <a:off x="4781550" y="8572500"/>
            <a:ext cx="587149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customers · accounts · cards · devices</a:t>
            </a:r>
            <a:endParaRPr lang="en-US" sz="1800" dirty="0"/>
          </a:p>
        </p:txBody>
      </p:sp>
      <p:sp>
        <p:nvSpPr>
          <p:cNvPr id="34" name="Text 32"/>
          <p:cNvSpPr/>
          <p:nvPr/>
        </p:nvSpPr>
        <p:spPr>
          <a:xfrm>
            <a:off x="11033671" y="3979664"/>
            <a:ext cx="6373002" cy="1127522"/>
          </a:xfrm>
          <a:prstGeom prst="rect">
            <a:avLst/>
          </a:prstGeom>
          <a:noFill/>
          <a:ln/>
        </p:spPr>
        <p:txBody>
          <a:bodyPr wrap="square" lIns="25400" tIns="25400" rIns="25400" bIns="25400" rtlCol="0" anchor="t">
            <a:normAutofit/>
          </a:bodyPr>
          <a:lstStyle/>
          <a:p>
            <a:pPr algn="l" indent="0" marL="0">
              <a:lnSpc>
                <a:spcPct val="114400"/>
              </a:lnSpc>
              <a:buNone/>
            </a:pPr>
            <a:r>
              <a:rPr lang="en-US" sz="3300" dirty="0">
                <a:solidFill>
                  <a:srgbClr val="1B222B"/>
                </a:solidFill>
                <a:latin typeface="Arial" pitchFamily="34" charset="0"/>
                <a:ea typeface="Arial" pitchFamily="34" charset="-122"/>
                <a:cs typeface="Arial" pitchFamily="34" charset="-120"/>
              </a:rPr>
              <a:t>Features and rules are the extension seam.</a:t>
            </a:r>
            <a:endParaRPr lang="en-US" sz="3300" dirty="0"/>
          </a:p>
        </p:txBody>
      </p:sp>
      <p:sp>
        <p:nvSpPr>
          <p:cNvPr id="35" name="Text 33"/>
          <p:cNvSpPr/>
          <p:nvPr/>
        </p:nvSpPr>
        <p:spPr>
          <a:xfrm>
            <a:off x="11033671" y="5278636"/>
            <a:ext cx="6373002" cy="1581150"/>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565F69"/>
                </a:solidFill>
                <a:latin typeface="Arial" pitchFamily="34" charset="0"/>
                <a:ea typeface="Arial" pitchFamily="34" charset="-122"/>
                <a:cs typeface="Arial" pitchFamily="34" charset="-120"/>
              </a:rPr>
              <a:t>Each layer is built from the one below it. Both shaded layers are data — a new fraud pattern is written into them, and nothing above or below has to change.</a:t>
            </a:r>
            <a:endParaRPr lang="en-US" sz="2025" dirty="0"/>
          </a:p>
        </p:txBody>
      </p:sp>
      <p:sp>
        <p:nvSpPr>
          <p:cNvPr id="36" name="Text 34"/>
          <p:cNvSpPr/>
          <p:nvPr/>
        </p:nvSpPr>
        <p:spPr>
          <a:xfrm>
            <a:off x="11033671" y="7031236"/>
            <a:ext cx="6373002"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565F69"/>
                </a:solidFill>
                <a:latin typeface="Arial" pitchFamily="34" charset="0"/>
                <a:ea typeface="Arial" pitchFamily="34" charset="-122"/>
                <a:cs typeface="Arial" pitchFamily="34" charset="-120"/>
              </a:rPr>
              <a:t>Groups of connected entities are discovered from the link layer, not written down by anyone.</a:t>
            </a:r>
            <a:endParaRPr lang="en-US" sz="20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3813155"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Architecture</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05</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Shape 3"/>
          <p:cNvSpPr/>
          <p:nvPr/>
        </p:nvSpPr>
        <p:spPr>
          <a:xfrm>
            <a:off x="1066800" y="3363962"/>
            <a:ext cx="3824288" cy="3473202"/>
          </a:xfrm>
          <a:prstGeom prst="rect">
            <a:avLst/>
          </a:prstGeom>
          <a:solidFill>
            <a:srgbClr val="DDE9F6"/>
          </a:solidFill>
          <a:ln/>
        </p:spPr>
      </p:sp>
      <p:sp>
        <p:nvSpPr>
          <p:cNvPr id="6" name="Text 4"/>
          <p:cNvSpPr/>
          <p:nvPr/>
        </p:nvSpPr>
        <p:spPr>
          <a:xfrm>
            <a:off x="1333500" y="3830687"/>
            <a:ext cx="405408"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2D557D"/>
                </a:solidFill>
                <a:latin typeface="Courier New" pitchFamily="34" charset="0"/>
                <a:ea typeface="Courier New" pitchFamily="34" charset="-122"/>
                <a:cs typeface="Courier New" pitchFamily="34" charset="-120"/>
              </a:rPr>
              <a:t>L1</a:t>
            </a:r>
            <a:endParaRPr lang="en-US" sz="1800" dirty="0"/>
          </a:p>
        </p:txBody>
      </p:sp>
      <p:sp>
        <p:nvSpPr>
          <p:cNvPr id="7" name="Text 5"/>
          <p:cNvSpPr/>
          <p:nvPr/>
        </p:nvSpPr>
        <p:spPr>
          <a:xfrm>
            <a:off x="1796058" y="3649712"/>
            <a:ext cx="1128713"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Logic</a:t>
            </a:r>
            <a:endParaRPr lang="en-US" sz="3300" dirty="0"/>
          </a:p>
        </p:txBody>
      </p:sp>
      <p:sp>
        <p:nvSpPr>
          <p:cNvPr id="8" name="Text 6"/>
          <p:cNvSpPr/>
          <p:nvPr/>
        </p:nvSpPr>
        <p:spPr>
          <a:xfrm>
            <a:off x="1333500" y="4297412"/>
            <a:ext cx="361997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85573"/>
                </a:solidFill>
                <a:latin typeface="Courier New" pitchFamily="34" charset="0"/>
                <a:ea typeface="Courier New" pitchFamily="34" charset="-122"/>
                <a:cs typeface="Courier New" pitchFamily="34" charset="-120"/>
              </a:rPr>
              <a:t>database rows</a:t>
            </a:r>
            <a:endParaRPr lang="en-US" sz="1800" dirty="0"/>
          </a:p>
        </p:txBody>
      </p:sp>
      <p:sp>
        <p:nvSpPr>
          <p:cNvPr id="9" name="Text 7"/>
          <p:cNvSpPr/>
          <p:nvPr/>
        </p:nvSpPr>
        <p:spPr>
          <a:xfrm>
            <a:off x="1333500" y="4726037"/>
            <a:ext cx="3389614" cy="1863477"/>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2D3947"/>
                </a:solidFill>
                <a:latin typeface="Arial" pitchFamily="34" charset="0"/>
                <a:ea typeface="Arial" pitchFamily="34" charset="-122"/>
                <a:cs typeface="Arial" pitchFamily="34" charset="-120"/>
              </a:rPr>
              <a:t>Rules, conditions, the features they may read, thresholds and bands. Changing detection means changing rows.</a:t>
            </a:r>
            <a:endParaRPr lang="en-US" sz="2025" dirty="0"/>
          </a:p>
        </p:txBody>
      </p:sp>
      <p:sp>
        <p:nvSpPr>
          <p:cNvPr id="10" name="Shape 8"/>
          <p:cNvSpPr/>
          <p:nvPr/>
        </p:nvSpPr>
        <p:spPr>
          <a:xfrm>
            <a:off x="5176838" y="3363962"/>
            <a:ext cx="3824288" cy="3473202"/>
          </a:xfrm>
          <a:prstGeom prst="rect">
            <a:avLst/>
          </a:prstGeom>
          <a:solidFill>
            <a:srgbClr val="DDE9F6"/>
          </a:solidFill>
          <a:ln/>
        </p:spPr>
      </p:sp>
      <p:sp>
        <p:nvSpPr>
          <p:cNvPr id="11" name="Text 9"/>
          <p:cNvSpPr/>
          <p:nvPr/>
        </p:nvSpPr>
        <p:spPr>
          <a:xfrm>
            <a:off x="5443538" y="3830687"/>
            <a:ext cx="405408"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2D557D"/>
                </a:solidFill>
                <a:latin typeface="Courier New" pitchFamily="34" charset="0"/>
                <a:ea typeface="Courier New" pitchFamily="34" charset="-122"/>
                <a:cs typeface="Courier New" pitchFamily="34" charset="-120"/>
              </a:rPr>
              <a:t>L2</a:t>
            </a:r>
            <a:endParaRPr lang="en-US" sz="1800" dirty="0"/>
          </a:p>
        </p:txBody>
      </p:sp>
      <p:sp>
        <p:nvSpPr>
          <p:cNvPr id="12" name="Text 10"/>
          <p:cNvSpPr/>
          <p:nvPr/>
        </p:nvSpPr>
        <p:spPr>
          <a:xfrm>
            <a:off x="5906095" y="3649712"/>
            <a:ext cx="1457846"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Engine</a:t>
            </a:r>
            <a:endParaRPr lang="en-US" sz="3300" dirty="0"/>
          </a:p>
        </p:txBody>
      </p:sp>
      <p:sp>
        <p:nvSpPr>
          <p:cNvPr id="13" name="Text 11"/>
          <p:cNvSpPr/>
          <p:nvPr/>
        </p:nvSpPr>
        <p:spPr>
          <a:xfrm>
            <a:off x="5443538" y="4297412"/>
            <a:ext cx="361997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85573"/>
                </a:solidFill>
                <a:latin typeface="Courier New" pitchFamily="34" charset="0"/>
                <a:ea typeface="Courier New" pitchFamily="34" charset="-122"/>
                <a:cs typeface="Courier New" pitchFamily="34" charset="-120"/>
              </a:rPr>
              <a:t>the interpreter</a:t>
            </a:r>
            <a:endParaRPr lang="en-US" sz="1800" dirty="0"/>
          </a:p>
        </p:txBody>
      </p:sp>
      <p:sp>
        <p:nvSpPr>
          <p:cNvPr id="14" name="Text 12"/>
          <p:cNvSpPr/>
          <p:nvPr/>
        </p:nvSpPr>
        <p:spPr>
          <a:xfrm>
            <a:off x="5443538" y="4726037"/>
            <a:ext cx="3389614" cy="1863477"/>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2D3947"/>
                </a:solidFill>
                <a:latin typeface="Arial" pitchFamily="34" charset="0"/>
                <a:ea typeface="Arial" pitchFamily="34" charset="-122"/>
                <a:cs typeface="Arial" pitchFamily="34" charset="-120"/>
              </a:rPr>
              <a:t>Computes the facts, resolves whose they are, applies the rows, decides the action, records what it looked at.</a:t>
            </a:r>
            <a:endParaRPr lang="en-US" sz="2025" dirty="0"/>
          </a:p>
        </p:txBody>
      </p:sp>
      <p:sp>
        <p:nvSpPr>
          <p:cNvPr id="15" name="Shape 13"/>
          <p:cNvSpPr/>
          <p:nvPr/>
        </p:nvSpPr>
        <p:spPr>
          <a:xfrm>
            <a:off x="9286875" y="3363962"/>
            <a:ext cx="3824288" cy="3473202"/>
          </a:xfrm>
          <a:prstGeom prst="rect">
            <a:avLst/>
          </a:prstGeom>
          <a:solidFill>
            <a:srgbClr val="E7EEF5"/>
          </a:solidFill>
          <a:ln/>
        </p:spPr>
      </p:sp>
      <p:sp>
        <p:nvSpPr>
          <p:cNvPr id="16" name="Text 14"/>
          <p:cNvSpPr/>
          <p:nvPr/>
        </p:nvSpPr>
        <p:spPr>
          <a:xfrm>
            <a:off x="9553575" y="3830687"/>
            <a:ext cx="405408"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C7580"/>
                </a:solidFill>
                <a:latin typeface="Courier New" pitchFamily="34" charset="0"/>
                <a:ea typeface="Courier New" pitchFamily="34" charset="-122"/>
                <a:cs typeface="Courier New" pitchFamily="34" charset="-120"/>
              </a:rPr>
              <a:t>L3</a:t>
            </a:r>
            <a:endParaRPr lang="en-US" sz="1800" dirty="0"/>
          </a:p>
        </p:txBody>
      </p:sp>
      <p:sp>
        <p:nvSpPr>
          <p:cNvPr id="17" name="Text 15"/>
          <p:cNvSpPr/>
          <p:nvPr/>
        </p:nvSpPr>
        <p:spPr>
          <a:xfrm>
            <a:off x="10016133" y="3649712"/>
            <a:ext cx="2092881"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Contracts</a:t>
            </a:r>
            <a:endParaRPr lang="en-US" sz="3300" dirty="0"/>
          </a:p>
        </p:txBody>
      </p:sp>
      <p:sp>
        <p:nvSpPr>
          <p:cNvPr id="18" name="Text 16"/>
          <p:cNvSpPr/>
          <p:nvPr/>
        </p:nvSpPr>
        <p:spPr>
          <a:xfrm>
            <a:off x="9553575" y="4297412"/>
            <a:ext cx="361997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published payloads</a:t>
            </a:r>
            <a:endParaRPr lang="en-US" sz="1800" dirty="0"/>
          </a:p>
        </p:txBody>
      </p:sp>
      <p:sp>
        <p:nvSpPr>
          <p:cNvPr id="19" name="Text 17"/>
          <p:cNvSpPr/>
          <p:nvPr/>
        </p:nvSpPr>
        <p:spPr>
          <a:xfrm>
            <a:off x="9553575" y="4726037"/>
            <a:ext cx="3389614" cy="1498402"/>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464E58"/>
                </a:solidFill>
                <a:latin typeface="Arial" pitchFamily="34" charset="0"/>
                <a:ea typeface="Arial" pitchFamily="34" charset="-122"/>
                <a:cs typeface="Arial" pitchFamily="34" charset="-120"/>
              </a:rPr>
              <a:t>Fixed shapes for a case, the queue, the measurements, the what-ifs. A new surface is added beside them.</a:t>
            </a:r>
            <a:endParaRPr lang="en-US" sz="2025" dirty="0"/>
          </a:p>
        </p:txBody>
      </p:sp>
      <p:sp>
        <p:nvSpPr>
          <p:cNvPr id="20" name="Shape 18"/>
          <p:cNvSpPr/>
          <p:nvPr/>
        </p:nvSpPr>
        <p:spPr>
          <a:xfrm>
            <a:off x="13396913" y="3363962"/>
            <a:ext cx="3824288" cy="3473202"/>
          </a:xfrm>
          <a:prstGeom prst="rect">
            <a:avLst/>
          </a:prstGeom>
          <a:solidFill>
            <a:srgbClr val="E7EEF5"/>
          </a:solidFill>
          <a:ln/>
        </p:spPr>
      </p:sp>
      <p:sp>
        <p:nvSpPr>
          <p:cNvPr id="21" name="Text 19"/>
          <p:cNvSpPr/>
          <p:nvPr/>
        </p:nvSpPr>
        <p:spPr>
          <a:xfrm>
            <a:off x="13663613" y="3830687"/>
            <a:ext cx="405408"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C7580"/>
                </a:solidFill>
                <a:latin typeface="Courier New" pitchFamily="34" charset="0"/>
                <a:ea typeface="Courier New" pitchFamily="34" charset="-122"/>
                <a:cs typeface="Courier New" pitchFamily="34" charset="-120"/>
              </a:rPr>
              <a:t>L4</a:t>
            </a:r>
            <a:endParaRPr lang="en-US" sz="1800" dirty="0"/>
          </a:p>
        </p:txBody>
      </p:sp>
      <p:sp>
        <p:nvSpPr>
          <p:cNvPr id="22" name="Text 20"/>
          <p:cNvSpPr/>
          <p:nvPr/>
        </p:nvSpPr>
        <p:spPr>
          <a:xfrm>
            <a:off x="14126170" y="3649712"/>
            <a:ext cx="1724204"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Console</a:t>
            </a:r>
            <a:endParaRPr lang="en-US" sz="3300" dirty="0"/>
          </a:p>
        </p:txBody>
      </p:sp>
      <p:sp>
        <p:nvSpPr>
          <p:cNvPr id="23" name="Text 21"/>
          <p:cNvSpPr/>
          <p:nvPr/>
        </p:nvSpPr>
        <p:spPr>
          <a:xfrm>
            <a:off x="13663613" y="4297412"/>
            <a:ext cx="361997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where a person works</a:t>
            </a:r>
            <a:endParaRPr lang="en-US" sz="1800" dirty="0"/>
          </a:p>
        </p:txBody>
      </p:sp>
      <p:sp>
        <p:nvSpPr>
          <p:cNvPr id="24" name="Text 22"/>
          <p:cNvSpPr/>
          <p:nvPr/>
        </p:nvSpPr>
        <p:spPr>
          <a:xfrm>
            <a:off x="13663613" y="4726037"/>
            <a:ext cx="3389614" cy="1863477"/>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464E58"/>
                </a:solidFill>
                <a:latin typeface="Arial" pitchFamily="34" charset="0"/>
                <a:ea typeface="Arial" pitchFamily="34" charset="-122"/>
                <a:cs typeface="Arial" pitchFamily="34" charset="-120"/>
              </a:rPr>
              <a:t>The queue, the case, the rules, the measurements — asserting nothing the payload does not already say.</a:t>
            </a:r>
            <a:endParaRPr lang="en-US" sz="2025" dirty="0"/>
          </a:p>
        </p:txBody>
      </p:sp>
      <p:sp>
        <p:nvSpPr>
          <p:cNvPr id="25" name="Shape 23"/>
          <p:cNvSpPr/>
          <p:nvPr/>
        </p:nvSpPr>
        <p:spPr>
          <a:xfrm>
            <a:off x="1066800" y="7256264"/>
            <a:ext cx="16154400" cy="19050"/>
          </a:xfrm>
          <a:prstGeom prst="rect">
            <a:avLst/>
          </a:prstGeom>
          <a:solidFill>
            <a:srgbClr val="3E6C9B"/>
          </a:solidFill>
          <a:ln/>
        </p:spPr>
      </p:sp>
      <p:sp>
        <p:nvSpPr>
          <p:cNvPr id="26" name="Text 24"/>
          <p:cNvSpPr/>
          <p:nvPr/>
        </p:nvSpPr>
        <p:spPr>
          <a:xfrm>
            <a:off x="1066800" y="7694414"/>
            <a:ext cx="1216968" cy="333375"/>
          </a:xfrm>
          <a:prstGeom prst="rect">
            <a:avLst/>
          </a:prstGeom>
          <a:noFill/>
          <a:ln/>
        </p:spPr>
        <p:txBody>
          <a:bodyPr wrap="none" lIns="25400" tIns="25400" rIns="25400" bIns="25400" rtlCol="0" anchor="t">
            <a:normAutofit/>
          </a:bodyPr>
          <a:lstStyle/>
          <a:p>
            <a:pPr algn="l" indent="0" marL="0">
              <a:buNone/>
            </a:pPr>
            <a:r>
              <a:rPr lang="en-US" sz="1800" spc="216" kern="0" dirty="0">
                <a:solidFill>
                  <a:srgbClr val="3E6C9B"/>
                </a:solidFill>
                <a:latin typeface="Courier New" pitchFamily="34" charset="0"/>
                <a:ea typeface="Courier New" pitchFamily="34" charset="-122"/>
                <a:cs typeface="Courier New" pitchFamily="34" charset="-120"/>
              </a:rPr>
              <a:t>L1 │ L2</a:t>
            </a:r>
            <a:endParaRPr lang="en-US" sz="1800" dirty="0"/>
          </a:p>
        </p:txBody>
      </p:sp>
      <p:sp>
        <p:nvSpPr>
          <p:cNvPr id="27" name="Text 25"/>
          <p:cNvSpPr/>
          <p:nvPr/>
        </p:nvSpPr>
        <p:spPr>
          <a:xfrm>
            <a:off x="2493318" y="7542014"/>
            <a:ext cx="10023038" cy="533400"/>
          </a:xfrm>
          <a:prstGeom prst="rect">
            <a:avLst/>
          </a:prstGeom>
          <a:noFill/>
          <a:ln/>
        </p:spPr>
        <p:txBody>
          <a:bodyPr wrap="square" lIns="25400" tIns="25400" rIns="25400" bIns="25400" rtlCol="0" anchor="t">
            <a:normAutofit/>
          </a:bodyPr>
          <a:lstStyle/>
          <a:p>
            <a:pPr algn="l" indent="0" marL="0">
              <a:lnSpc>
                <a:spcPct val="115556"/>
              </a:lnSpc>
              <a:buNone/>
            </a:pPr>
            <a:r>
              <a:rPr lang="en-US" sz="3000" dirty="0">
                <a:solidFill>
                  <a:srgbClr val="1B222B"/>
                </a:solidFill>
                <a:latin typeface="Arial" pitchFamily="34" charset="0"/>
                <a:ea typeface="Arial" pitchFamily="34" charset="-122"/>
                <a:cs typeface="Arial" pitchFamily="34" charset="-120"/>
              </a:rPr>
              <a:t>Detection is data. The code is the thing that reads it.</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6911876"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One charge, end to end</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06</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Shape 3"/>
          <p:cNvSpPr/>
          <p:nvPr/>
        </p:nvSpPr>
        <p:spPr>
          <a:xfrm>
            <a:off x="1066800" y="3266480"/>
            <a:ext cx="2822377" cy="1921966"/>
          </a:xfrm>
          <a:prstGeom prst="rect">
            <a:avLst/>
          </a:prstGeom>
          <a:solidFill>
            <a:srgbClr val="E7EEF5"/>
          </a:solidFill>
          <a:ln/>
        </p:spPr>
      </p:sp>
      <p:sp>
        <p:nvSpPr>
          <p:cNvPr id="6" name="Text 4"/>
          <p:cNvSpPr/>
          <p:nvPr/>
        </p:nvSpPr>
        <p:spPr>
          <a:xfrm>
            <a:off x="1295400" y="3514130"/>
            <a:ext cx="2601694"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Arrive</a:t>
            </a:r>
            <a:endParaRPr lang="en-US" sz="2400" dirty="0"/>
          </a:p>
        </p:txBody>
      </p:sp>
      <p:sp>
        <p:nvSpPr>
          <p:cNvPr id="7" name="Text 5"/>
          <p:cNvSpPr/>
          <p:nvPr/>
        </p:nvSpPr>
        <p:spPr>
          <a:xfrm>
            <a:off x="1295400" y="3980855"/>
            <a:ext cx="2441377" cy="99804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05963"/>
                </a:solidFill>
                <a:latin typeface="Arial" pitchFamily="34" charset="0"/>
                <a:ea typeface="Arial" pitchFamily="34" charset="-122"/>
                <a:cs typeface="Arial" pitchFamily="34" charset="-120"/>
              </a:rPr>
              <a:t>Asking permission, before it counts as approved</a:t>
            </a:r>
            <a:endParaRPr lang="en-US" sz="1800" dirty="0"/>
          </a:p>
        </p:txBody>
      </p:sp>
      <p:sp>
        <p:nvSpPr>
          <p:cNvPr id="8" name="Text 6"/>
          <p:cNvSpPr/>
          <p:nvPr/>
        </p:nvSpPr>
        <p:spPr>
          <a:xfrm>
            <a:off x="4060627" y="3266480"/>
            <a:ext cx="243780" cy="1960066"/>
          </a:xfrm>
          <a:prstGeom prst="rect">
            <a:avLst/>
          </a:prstGeom>
          <a:noFill/>
          <a:ln/>
        </p:spPr>
        <p:txBody>
          <a:bodyPr wrap="square" lIns="25400" tIns="25400" rIns="25400" bIns="25400" rtlCol="0" anchor="ctr">
            <a:normAutofit/>
          </a:bodyPr>
          <a:lstStyle/>
          <a:p>
            <a:pPr algn="l" indent="0" marL="0">
              <a:buNone/>
            </a:pPr>
            <a:r>
              <a:rPr lang="en-US" sz="2400" dirty="0">
                <a:solidFill>
                  <a:srgbClr val="7089A4"/>
                </a:solidFill>
                <a:latin typeface="Courier New" pitchFamily="34" charset="0"/>
                <a:ea typeface="Courier New" pitchFamily="34" charset="-122"/>
                <a:cs typeface="Courier New" pitchFamily="34" charset="-120"/>
              </a:rPr>
              <a:t>→</a:t>
            </a:r>
            <a:endParaRPr lang="en-US" sz="2400" dirty="0"/>
          </a:p>
        </p:txBody>
      </p:sp>
      <p:sp>
        <p:nvSpPr>
          <p:cNvPr id="9" name="Shape 7"/>
          <p:cNvSpPr/>
          <p:nvPr/>
        </p:nvSpPr>
        <p:spPr>
          <a:xfrm>
            <a:off x="4399657" y="3266480"/>
            <a:ext cx="2822525" cy="1921966"/>
          </a:xfrm>
          <a:prstGeom prst="rect">
            <a:avLst/>
          </a:prstGeom>
          <a:solidFill>
            <a:srgbClr val="E7EEF5"/>
          </a:solidFill>
          <a:ln/>
        </p:spPr>
      </p:sp>
      <p:sp>
        <p:nvSpPr>
          <p:cNvPr id="10" name="Text 8"/>
          <p:cNvSpPr/>
          <p:nvPr/>
        </p:nvSpPr>
        <p:spPr>
          <a:xfrm>
            <a:off x="4628257" y="3514130"/>
            <a:ext cx="2601858"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Measure</a:t>
            </a:r>
            <a:endParaRPr lang="en-US" sz="2400" dirty="0"/>
          </a:p>
        </p:txBody>
      </p:sp>
      <p:sp>
        <p:nvSpPr>
          <p:cNvPr id="11" name="Text 9"/>
          <p:cNvSpPr/>
          <p:nvPr/>
        </p:nvSpPr>
        <p:spPr>
          <a:xfrm>
            <a:off x="4628257" y="3980855"/>
            <a:ext cx="2441525"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05963"/>
                </a:solidFill>
                <a:latin typeface="Arial" pitchFamily="34" charset="0"/>
                <a:ea typeface="Arial" pitchFamily="34" charset="-122"/>
                <a:cs typeface="Arial" pitchFamily="34" charset="-120"/>
              </a:rPr>
              <a:t>The facts as they stood at that instant</a:t>
            </a:r>
            <a:endParaRPr lang="en-US" sz="1800" dirty="0"/>
          </a:p>
        </p:txBody>
      </p:sp>
      <p:sp>
        <p:nvSpPr>
          <p:cNvPr id="12" name="Text 10"/>
          <p:cNvSpPr/>
          <p:nvPr/>
        </p:nvSpPr>
        <p:spPr>
          <a:xfrm>
            <a:off x="7393632" y="3266480"/>
            <a:ext cx="243780" cy="1960066"/>
          </a:xfrm>
          <a:prstGeom prst="rect">
            <a:avLst/>
          </a:prstGeom>
          <a:noFill/>
          <a:ln/>
        </p:spPr>
        <p:txBody>
          <a:bodyPr wrap="square" lIns="25400" tIns="25400" rIns="25400" bIns="25400" rtlCol="0" anchor="ctr">
            <a:normAutofit/>
          </a:bodyPr>
          <a:lstStyle/>
          <a:p>
            <a:pPr algn="l" indent="0" marL="0">
              <a:buNone/>
            </a:pPr>
            <a:r>
              <a:rPr lang="en-US" sz="2400" dirty="0">
                <a:solidFill>
                  <a:srgbClr val="7089A4"/>
                </a:solidFill>
                <a:latin typeface="Courier New" pitchFamily="34" charset="0"/>
                <a:ea typeface="Courier New" pitchFamily="34" charset="-122"/>
                <a:cs typeface="Courier New" pitchFamily="34" charset="-120"/>
              </a:rPr>
              <a:t>→</a:t>
            </a:r>
            <a:endParaRPr lang="en-US" sz="2400" dirty="0"/>
          </a:p>
        </p:txBody>
      </p:sp>
      <p:sp>
        <p:nvSpPr>
          <p:cNvPr id="13" name="Shape 11"/>
          <p:cNvSpPr/>
          <p:nvPr/>
        </p:nvSpPr>
        <p:spPr>
          <a:xfrm>
            <a:off x="7732663" y="3266480"/>
            <a:ext cx="2822525" cy="1921966"/>
          </a:xfrm>
          <a:prstGeom prst="rect">
            <a:avLst/>
          </a:prstGeom>
          <a:solidFill>
            <a:srgbClr val="E7EEF5"/>
          </a:solidFill>
          <a:ln/>
        </p:spPr>
      </p:sp>
      <p:sp>
        <p:nvSpPr>
          <p:cNvPr id="14" name="Text 12"/>
          <p:cNvSpPr/>
          <p:nvPr/>
        </p:nvSpPr>
        <p:spPr>
          <a:xfrm>
            <a:off x="7961263" y="3514130"/>
            <a:ext cx="2601858"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Weigh</a:t>
            </a:r>
            <a:endParaRPr lang="en-US" sz="2400" dirty="0"/>
          </a:p>
        </p:txBody>
      </p:sp>
      <p:sp>
        <p:nvSpPr>
          <p:cNvPr id="15" name="Text 13"/>
          <p:cNvSpPr/>
          <p:nvPr/>
        </p:nvSpPr>
        <p:spPr>
          <a:xfrm>
            <a:off x="7961263" y="3980855"/>
            <a:ext cx="2441525" cy="99804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05963"/>
                </a:solidFill>
                <a:latin typeface="Arial" pitchFamily="34" charset="0"/>
                <a:ea typeface="Arial" pitchFamily="34" charset="-122"/>
                <a:cs typeface="Arial" pitchFamily="34" charset="-120"/>
              </a:rPr>
              <a:t>Each condition fires, or records why it could not</a:t>
            </a:r>
            <a:endParaRPr lang="en-US" sz="1800" dirty="0"/>
          </a:p>
        </p:txBody>
      </p:sp>
      <p:sp>
        <p:nvSpPr>
          <p:cNvPr id="16" name="Text 14"/>
          <p:cNvSpPr/>
          <p:nvPr/>
        </p:nvSpPr>
        <p:spPr>
          <a:xfrm>
            <a:off x="10726638" y="3266480"/>
            <a:ext cx="243780" cy="1960066"/>
          </a:xfrm>
          <a:prstGeom prst="rect">
            <a:avLst/>
          </a:prstGeom>
          <a:noFill/>
          <a:ln/>
        </p:spPr>
        <p:txBody>
          <a:bodyPr wrap="square" lIns="25400" tIns="25400" rIns="25400" bIns="25400" rtlCol="0" anchor="ctr">
            <a:normAutofit/>
          </a:bodyPr>
          <a:lstStyle/>
          <a:p>
            <a:pPr algn="l" indent="0" marL="0">
              <a:buNone/>
            </a:pPr>
            <a:r>
              <a:rPr lang="en-US" sz="2400" dirty="0">
                <a:solidFill>
                  <a:srgbClr val="7089A4"/>
                </a:solidFill>
                <a:latin typeface="Courier New" pitchFamily="34" charset="0"/>
                <a:ea typeface="Courier New" pitchFamily="34" charset="-122"/>
                <a:cs typeface="Courier New" pitchFamily="34" charset="-120"/>
              </a:rPr>
              <a:t>→</a:t>
            </a:r>
            <a:endParaRPr lang="en-US" sz="2400" dirty="0"/>
          </a:p>
        </p:txBody>
      </p:sp>
      <p:sp>
        <p:nvSpPr>
          <p:cNvPr id="17" name="Shape 15"/>
          <p:cNvSpPr/>
          <p:nvPr/>
        </p:nvSpPr>
        <p:spPr>
          <a:xfrm>
            <a:off x="11065669" y="3266480"/>
            <a:ext cx="2822525" cy="1921966"/>
          </a:xfrm>
          <a:prstGeom prst="rect">
            <a:avLst/>
          </a:prstGeom>
          <a:solidFill>
            <a:srgbClr val="E7EEF5"/>
          </a:solidFill>
          <a:ln/>
        </p:spPr>
      </p:sp>
      <p:sp>
        <p:nvSpPr>
          <p:cNvPr id="18" name="Text 16"/>
          <p:cNvSpPr/>
          <p:nvPr/>
        </p:nvSpPr>
        <p:spPr>
          <a:xfrm>
            <a:off x="11294269" y="3514130"/>
            <a:ext cx="2601858"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B222B"/>
                </a:solidFill>
                <a:latin typeface="Arial" pitchFamily="34" charset="0"/>
                <a:ea typeface="Arial" pitchFamily="34" charset="-122"/>
                <a:cs typeface="Arial" pitchFamily="34" charset="-120"/>
              </a:rPr>
              <a:t>Score</a:t>
            </a:r>
            <a:endParaRPr lang="en-US" sz="2400" dirty="0"/>
          </a:p>
        </p:txBody>
      </p:sp>
      <p:sp>
        <p:nvSpPr>
          <p:cNvPr id="19" name="Text 17"/>
          <p:cNvSpPr/>
          <p:nvPr/>
        </p:nvSpPr>
        <p:spPr>
          <a:xfrm>
            <a:off x="11294269" y="3980855"/>
            <a:ext cx="2441525"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05963"/>
                </a:solidFill>
                <a:latin typeface="Arial" pitchFamily="34" charset="0"/>
                <a:ea typeface="Arial" pitchFamily="34" charset="-122"/>
                <a:cs typeface="Arial" pitchFamily="34" charset="-120"/>
              </a:rPr>
              <a:t>Reasons pooled, each fact counted once</a:t>
            </a:r>
            <a:endParaRPr lang="en-US" sz="1800" dirty="0"/>
          </a:p>
        </p:txBody>
      </p:sp>
      <p:sp>
        <p:nvSpPr>
          <p:cNvPr id="20" name="Text 18"/>
          <p:cNvSpPr/>
          <p:nvPr/>
        </p:nvSpPr>
        <p:spPr>
          <a:xfrm>
            <a:off x="14059644" y="3266480"/>
            <a:ext cx="243780" cy="1960066"/>
          </a:xfrm>
          <a:prstGeom prst="rect">
            <a:avLst/>
          </a:prstGeom>
          <a:noFill/>
          <a:ln/>
        </p:spPr>
        <p:txBody>
          <a:bodyPr wrap="square" lIns="25400" tIns="25400" rIns="25400" bIns="25400" rtlCol="0" anchor="ctr">
            <a:normAutofit/>
          </a:bodyPr>
          <a:lstStyle/>
          <a:p>
            <a:pPr algn="l" indent="0" marL="0">
              <a:buNone/>
            </a:pPr>
            <a:r>
              <a:rPr lang="en-US" sz="2400" dirty="0">
                <a:solidFill>
                  <a:srgbClr val="7089A4"/>
                </a:solidFill>
                <a:latin typeface="Courier New" pitchFamily="34" charset="0"/>
                <a:ea typeface="Courier New" pitchFamily="34" charset="-122"/>
                <a:cs typeface="Courier New" pitchFamily="34" charset="-120"/>
              </a:rPr>
              <a:t>→</a:t>
            </a:r>
            <a:endParaRPr lang="en-US" sz="2400" dirty="0"/>
          </a:p>
        </p:txBody>
      </p:sp>
      <p:sp>
        <p:nvSpPr>
          <p:cNvPr id="21" name="Shape 19"/>
          <p:cNvSpPr/>
          <p:nvPr/>
        </p:nvSpPr>
        <p:spPr>
          <a:xfrm>
            <a:off x="14398675" y="3266480"/>
            <a:ext cx="2822525" cy="1921966"/>
          </a:xfrm>
          <a:prstGeom prst="rect">
            <a:avLst/>
          </a:prstGeom>
          <a:solidFill>
            <a:srgbClr val="D0E0F2"/>
          </a:solidFill>
          <a:ln/>
        </p:spPr>
      </p:sp>
      <p:sp>
        <p:nvSpPr>
          <p:cNvPr id="22" name="Text 20"/>
          <p:cNvSpPr/>
          <p:nvPr/>
        </p:nvSpPr>
        <p:spPr>
          <a:xfrm>
            <a:off x="14627275" y="3514130"/>
            <a:ext cx="2601858"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E3A56"/>
                </a:solidFill>
                <a:latin typeface="Arial" pitchFamily="34" charset="0"/>
                <a:ea typeface="Arial" pitchFamily="34" charset="-122"/>
                <a:cs typeface="Arial" pitchFamily="34" charset="-120"/>
              </a:rPr>
              <a:t>Act</a:t>
            </a:r>
            <a:endParaRPr lang="en-US" sz="2400" dirty="0"/>
          </a:p>
        </p:txBody>
      </p:sp>
      <p:sp>
        <p:nvSpPr>
          <p:cNvPr id="23" name="Text 21"/>
          <p:cNvSpPr/>
          <p:nvPr/>
        </p:nvSpPr>
        <p:spPr>
          <a:xfrm>
            <a:off x="14627275" y="3980855"/>
            <a:ext cx="2441525"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334A62"/>
                </a:solidFill>
                <a:latin typeface="Arial" pitchFamily="34" charset="0"/>
                <a:ea typeface="Arial" pitchFamily="34" charset="-122"/>
                <a:cs typeface="Arial" pitchFamily="34" charset="-120"/>
              </a:rPr>
              <a:t>A separate question, under a higher bar</a:t>
            </a:r>
            <a:endParaRPr lang="en-US" sz="1800" dirty="0"/>
          </a:p>
        </p:txBody>
      </p:sp>
      <p:sp>
        <p:nvSpPr>
          <p:cNvPr id="24" name="Shape 22"/>
          <p:cNvSpPr/>
          <p:nvPr/>
        </p:nvSpPr>
        <p:spPr>
          <a:xfrm>
            <a:off x="1066800" y="5683746"/>
            <a:ext cx="5130701" cy="19050"/>
          </a:xfrm>
          <a:prstGeom prst="rect">
            <a:avLst/>
          </a:prstGeom>
          <a:solidFill>
            <a:srgbClr val="93573B"/>
          </a:solidFill>
          <a:ln/>
        </p:spPr>
      </p:sp>
      <p:sp>
        <p:nvSpPr>
          <p:cNvPr id="25" name="Text 23"/>
          <p:cNvSpPr/>
          <p:nvPr/>
        </p:nvSpPr>
        <p:spPr>
          <a:xfrm>
            <a:off x="1066800" y="5893296"/>
            <a:ext cx="5643771"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Declined</a:t>
            </a:r>
            <a:endParaRPr lang="en-US" sz="3300" dirty="0"/>
          </a:p>
        </p:txBody>
      </p:sp>
      <p:sp>
        <p:nvSpPr>
          <p:cNvPr id="26" name="Text 24"/>
          <p:cNvSpPr/>
          <p:nvPr/>
        </p:nvSpPr>
        <p:spPr>
          <a:xfrm>
            <a:off x="1066800" y="6502896"/>
            <a:ext cx="5643771" cy="403175"/>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505963"/>
                </a:solidFill>
                <a:latin typeface="Arial" pitchFamily="34" charset="0"/>
                <a:ea typeface="Arial" pitchFamily="34" charset="-122"/>
                <a:cs typeface="Arial" pitchFamily="34" charset="-120"/>
              </a:rPr>
              <a:t>Stopped at the door, with a step-up offered</a:t>
            </a:r>
            <a:endParaRPr lang="en-US" sz="2025" dirty="0"/>
          </a:p>
        </p:txBody>
      </p:sp>
      <p:sp>
        <p:nvSpPr>
          <p:cNvPr id="27" name="Shape 25"/>
          <p:cNvSpPr/>
          <p:nvPr/>
        </p:nvSpPr>
        <p:spPr>
          <a:xfrm>
            <a:off x="6578501" y="5683746"/>
            <a:ext cx="5130850" cy="19050"/>
          </a:xfrm>
          <a:prstGeom prst="rect">
            <a:avLst/>
          </a:prstGeom>
          <a:solidFill>
            <a:srgbClr val="3E6C9B"/>
          </a:solidFill>
          <a:ln/>
        </p:spPr>
      </p:sp>
      <p:sp>
        <p:nvSpPr>
          <p:cNvPr id="28" name="Text 26"/>
          <p:cNvSpPr/>
          <p:nvPr/>
        </p:nvSpPr>
        <p:spPr>
          <a:xfrm>
            <a:off x="6578501" y="5893296"/>
            <a:ext cx="5643935"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Case raised</a:t>
            </a:r>
            <a:endParaRPr lang="en-US" sz="3300" dirty="0"/>
          </a:p>
        </p:txBody>
      </p:sp>
      <p:sp>
        <p:nvSpPr>
          <p:cNvPr id="29" name="Text 27"/>
          <p:cNvSpPr/>
          <p:nvPr/>
        </p:nvSpPr>
        <p:spPr>
          <a:xfrm>
            <a:off x="6578501" y="6502896"/>
            <a:ext cx="5643935" cy="403175"/>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505963"/>
                </a:solidFill>
                <a:latin typeface="Arial" pitchFamily="34" charset="0"/>
                <a:ea typeface="Arial" pitchFamily="34" charset="-122"/>
                <a:cs typeface="Arial" pitchFamily="34" charset="-120"/>
              </a:rPr>
              <a:t>An analyst reviews it and records a verdict</a:t>
            </a:r>
            <a:endParaRPr lang="en-US" sz="2025" dirty="0"/>
          </a:p>
        </p:txBody>
      </p:sp>
      <p:sp>
        <p:nvSpPr>
          <p:cNvPr id="30" name="Shape 28"/>
          <p:cNvSpPr/>
          <p:nvPr/>
        </p:nvSpPr>
        <p:spPr>
          <a:xfrm>
            <a:off x="12090350" y="5683746"/>
            <a:ext cx="5130850" cy="19050"/>
          </a:xfrm>
          <a:prstGeom prst="rect">
            <a:avLst/>
          </a:prstGeom>
          <a:solidFill>
            <a:srgbClr val="BEC5CC"/>
          </a:solidFill>
          <a:ln/>
        </p:spPr>
      </p:sp>
      <p:sp>
        <p:nvSpPr>
          <p:cNvPr id="31" name="Text 29"/>
          <p:cNvSpPr/>
          <p:nvPr/>
        </p:nvSpPr>
        <p:spPr>
          <a:xfrm>
            <a:off x="12090350" y="5893296"/>
            <a:ext cx="5643935"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Passed</a:t>
            </a:r>
            <a:endParaRPr lang="en-US" sz="3300" dirty="0"/>
          </a:p>
        </p:txBody>
      </p:sp>
      <p:sp>
        <p:nvSpPr>
          <p:cNvPr id="32" name="Text 30"/>
          <p:cNvSpPr/>
          <p:nvPr/>
        </p:nvSpPr>
        <p:spPr>
          <a:xfrm>
            <a:off x="12090350" y="6502896"/>
            <a:ext cx="5643935" cy="403175"/>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505963"/>
                </a:solidFill>
                <a:latin typeface="Arial" pitchFamily="34" charset="0"/>
                <a:ea typeface="Arial" pitchFamily="34" charset="-122"/>
                <a:cs typeface="Arial" pitchFamily="34" charset="-120"/>
              </a:rPr>
              <a:t>Recorded with its reasons all the same</a:t>
            </a:r>
            <a:endParaRPr lang="en-US" sz="2025" dirty="0"/>
          </a:p>
        </p:txBody>
      </p:sp>
      <p:sp>
        <p:nvSpPr>
          <p:cNvPr id="33" name="Text 31"/>
          <p:cNvSpPr/>
          <p:nvPr/>
        </p:nvSpPr>
        <p:spPr>
          <a:xfrm>
            <a:off x="1066800" y="7363271"/>
            <a:ext cx="14716125"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565F69"/>
                </a:solidFill>
                <a:latin typeface="Arial" pitchFamily="34" charset="0"/>
                <a:ea typeface="Arial" pitchFamily="34" charset="-122"/>
                <a:cs typeface="Arial" pitchFamily="34" charset="-120"/>
              </a:rPr>
              <a:t>One code path. At the authorization door it runs synchronously and can stop the charge; everywhere else the same code runs on a clock.</a:t>
            </a:r>
            <a:endParaRPr lang="en-US" sz="20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5514112"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The score is a sum</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07</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Text 3"/>
          <p:cNvSpPr/>
          <p:nvPr/>
        </p:nvSpPr>
        <p:spPr>
          <a:xfrm>
            <a:off x="1066800" y="2200275"/>
            <a:ext cx="15697200" cy="1013222"/>
          </a:xfrm>
          <a:prstGeom prst="rect">
            <a:avLst/>
          </a:prstGeom>
          <a:noFill/>
          <a:ln/>
        </p:spPr>
        <p:txBody>
          <a:bodyPr wrap="square" lIns="25400" tIns="25400" rIns="25400" bIns="25400" rtlCol="0" anchor="t">
            <a:normAutofit/>
          </a:bodyPr>
          <a:lstStyle/>
          <a:p>
            <a:pPr algn="l" indent="0" marL="0">
              <a:lnSpc>
                <a:spcPct val="113778"/>
              </a:lnSpc>
              <a:buNone/>
            </a:pPr>
            <a:r>
              <a:rPr lang="en-US" sz="3000" dirty="0">
                <a:solidFill>
                  <a:srgbClr val="1B222B"/>
                </a:solidFill>
                <a:latin typeface="Arial" pitchFamily="34" charset="0"/>
                <a:ea typeface="Arial" pitchFamily="34" charset="-122"/>
                <a:cs typeface="Arial" pitchFamily="34" charset="-120"/>
              </a:rPr>
              <a:t>A rule is a set of conditions. Every condition carries its own points. The score is their sum — nothing else.</a:t>
            </a:r>
            <a:endParaRPr lang="en-US" sz="3000" dirty="0"/>
          </a:p>
        </p:txBody>
      </p:sp>
      <p:sp>
        <p:nvSpPr>
          <p:cNvPr id="6" name="Text 4"/>
          <p:cNvSpPr/>
          <p:nvPr/>
        </p:nvSpPr>
        <p:spPr>
          <a:xfrm>
            <a:off x="1066800" y="3289697"/>
            <a:ext cx="1373505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565F69"/>
                </a:solidFill>
                <a:latin typeface="Arial" pitchFamily="34" charset="0"/>
                <a:ea typeface="Arial" pitchFamily="34" charset="-122"/>
                <a:cs typeface="Arial" pitchFamily="34" charset="-120"/>
              </a:rPr>
              <a:t>Not a model output, not a weighted blend. If a model is ever added, it enters as one line in the addition — never as the score itself.</a:t>
            </a:r>
            <a:endParaRPr lang="en-US" sz="2025" dirty="0"/>
          </a:p>
        </p:txBody>
      </p:sp>
      <p:sp>
        <p:nvSpPr>
          <p:cNvPr id="7" name="Text 5"/>
          <p:cNvSpPr/>
          <p:nvPr/>
        </p:nvSpPr>
        <p:spPr>
          <a:xfrm>
            <a:off x="1066800" y="4385072"/>
            <a:ext cx="9617363"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E6C9B"/>
                </a:solidFill>
                <a:latin typeface="Courier New" pitchFamily="34" charset="0"/>
                <a:ea typeface="Courier New" pitchFamily="34" charset="-122"/>
                <a:cs typeface="Courier New" pitchFamily="34" charset="-120"/>
              </a:rPr>
              <a:t>FOR EXAMPLE — ONE RULE, FOUR CONDITIONS</a:t>
            </a:r>
            <a:endParaRPr lang="en-US" sz="1800" dirty="0"/>
          </a:p>
        </p:txBody>
      </p:sp>
      <p:sp>
        <p:nvSpPr>
          <p:cNvPr id="8" name="Shape 6"/>
          <p:cNvSpPr/>
          <p:nvPr/>
        </p:nvSpPr>
        <p:spPr>
          <a:xfrm>
            <a:off x="1066800" y="4813697"/>
            <a:ext cx="8743057" cy="638175"/>
          </a:xfrm>
          <a:prstGeom prst="rect">
            <a:avLst/>
          </a:prstGeom>
          <a:solidFill>
            <a:srgbClr val="D0E0F2"/>
          </a:solidFill>
          <a:ln/>
        </p:spPr>
      </p:sp>
      <p:sp>
        <p:nvSpPr>
          <p:cNvPr id="9" name="Text 7"/>
          <p:cNvSpPr/>
          <p:nvPr/>
        </p:nvSpPr>
        <p:spPr>
          <a:xfrm>
            <a:off x="1276350" y="4947047"/>
            <a:ext cx="4580141"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93550"/>
                </a:solidFill>
                <a:latin typeface="Arial" pitchFamily="34" charset="0"/>
                <a:ea typeface="Arial" pitchFamily="34" charset="-122"/>
                <a:cs typeface="Arial" pitchFamily="34" charset="-120"/>
              </a:rPr>
              <a:t>Rapid card-not-present burst</a:t>
            </a:r>
            <a:endParaRPr lang="en-US" sz="2400" dirty="0"/>
          </a:p>
        </p:txBody>
      </p:sp>
      <p:sp>
        <p:nvSpPr>
          <p:cNvPr id="10" name="Text 8"/>
          <p:cNvSpPr/>
          <p:nvPr/>
        </p:nvSpPr>
        <p:spPr>
          <a:xfrm>
            <a:off x="7542907" y="5013722"/>
            <a:ext cx="226314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D556D"/>
                </a:solidFill>
                <a:latin typeface="Courier New" pitchFamily="34" charset="0"/>
                <a:ea typeface="Courier New" pitchFamily="34" charset="-122"/>
                <a:cs typeface="Courier New" pitchFamily="34" charset="-120"/>
              </a:rPr>
              <a:t>rule definition</a:t>
            </a:r>
            <a:endParaRPr lang="en-US" sz="1800" dirty="0"/>
          </a:p>
        </p:txBody>
      </p:sp>
      <p:sp>
        <p:nvSpPr>
          <p:cNvPr id="11" name="Shape 9"/>
          <p:cNvSpPr/>
          <p:nvPr/>
        </p:nvSpPr>
        <p:spPr>
          <a:xfrm>
            <a:off x="1066800" y="5451872"/>
            <a:ext cx="19050" cy="2695575"/>
          </a:xfrm>
          <a:prstGeom prst="rect">
            <a:avLst/>
          </a:prstGeom>
          <a:solidFill>
            <a:srgbClr val="D0E0F2"/>
          </a:solidFill>
          <a:ln/>
        </p:spPr>
      </p:sp>
      <p:sp>
        <p:nvSpPr>
          <p:cNvPr id="12" name="Text 10"/>
          <p:cNvSpPr/>
          <p:nvPr/>
        </p:nvSpPr>
        <p:spPr>
          <a:xfrm>
            <a:off x="1295400" y="5689997"/>
            <a:ext cx="8468931"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Five card-not-present charges in 90 seconds</a:t>
            </a:r>
            <a:endParaRPr lang="en-US" sz="2025" dirty="0"/>
          </a:p>
        </p:txBody>
      </p:sp>
      <p:sp>
        <p:nvSpPr>
          <p:cNvPr id="13" name="Text 11"/>
          <p:cNvSpPr/>
          <p:nvPr/>
        </p:nvSpPr>
        <p:spPr>
          <a:xfrm>
            <a:off x="9261128" y="5623322"/>
            <a:ext cx="624929" cy="447675"/>
          </a:xfrm>
          <a:prstGeom prst="rect">
            <a:avLst/>
          </a:prstGeom>
          <a:noFill/>
          <a:ln/>
        </p:spPr>
        <p:txBody>
          <a:bodyPr wrap="square" lIns="25400" tIns="25400" rIns="25400" bIns="25400" rtlCol="0" anchor="t">
            <a:normAutofit/>
          </a:bodyPr>
          <a:lstStyle/>
          <a:p>
            <a:pPr algn="l" indent="0" marL="0">
              <a:buNone/>
            </a:pPr>
            <a:r>
              <a:rPr lang="en-US" sz="2400" dirty="0">
                <a:solidFill>
                  <a:srgbClr val="93573B"/>
                </a:solidFill>
                <a:latin typeface="Courier New" pitchFamily="34" charset="0"/>
                <a:ea typeface="Courier New" pitchFamily="34" charset="-122"/>
                <a:cs typeface="Courier New" pitchFamily="34" charset="-120"/>
              </a:rPr>
              <a:t>+34</a:t>
            </a:r>
            <a:endParaRPr lang="en-US" sz="2400" dirty="0"/>
          </a:p>
        </p:txBody>
      </p:sp>
      <p:sp>
        <p:nvSpPr>
          <p:cNvPr id="14" name="Text 12"/>
          <p:cNvSpPr/>
          <p:nvPr/>
        </p:nvSpPr>
        <p:spPr>
          <a:xfrm>
            <a:off x="1295400" y="6242447"/>
            <a:ext cx="8468931"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Device first seen four minutes ago</a:t>
            </a:r>
            <a:endParaRPr lang="en-US" sz="2025" dirty="0"/>
          </a:p>
        </p:txBody>
      </p:sp>
      <p:sp>
        <p:nvSpPr>
          <p:cNvPr id="15" name="Text 13"/>
          <p:cNvSpPr/>
          <p:nvPr/>
        </p:nvSpPr>
        <p:spPr>
          <a:xfrm>
            <a:off x="9261128" y="6175772"/>
            <a:ext cx="624929" cy="447675"/>
          </a:xfrm>
          <a:prstGeom prst="rect">
            <a:avLst/>
          </a:prstGeom>
          <a:noFill/>
          <a:ln/>
        </p:spPr>
        <p:txBody>
          <a:bodyPr wrap="square" lIns="25400" tIns="25400" rIns="25400" bIns="25400" rtlCol="0" anchor="t">
            <a:normAutofit/>
          </a:bodyPr>
          <a:lstStyle/>
          <a:p>
            <a:pPr algn="l" indent="0" marL="0">
              <a:buNone/>
            </a:pPr>
            <a:r>
              <a:rPr lang="en-US" sz="2400" dirty="0">
                <a:solidFill>
                  <a:srgbClr val="93573B"/>
                </a:solidFill>
                <a:latin typeface="Courier New" pitchFamily="34" charset="0"/>
                <a:ea typeface="Courier New" pitchFamily="34" charset="-122"/>
                <a:cs typeface="Courier New" pitchFamily="34" charset="-120"/>
              </a:rPr>
              <a:t>+21</a:t>
            </a:r>
            <a:endParaRPr lang="en-US" sz="2400" dirty="0"/>
          </a:p>
        </p:txBody>
      </p:sp>
      <p:sp>
        <p:nvSpPr>
          <p:cNvPr id="16" name="Text 14"/>
          <p:cNvSpPr/>
          <p:nvPr/>
        </p:nvSpPr>
        <p:spPr>
          <a:xfrm>
            <a:off x="1295400" y="6794897"/>
            <a:ext cx="8468931"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Gift-card merchant category</a:t>
            </a:r>
            <a:endParaRPr lang="en-US" sz="2025" dirty="0"/>
          </a:p>
        </p:txBody>
      </p:sp>
      <p:sp>
        <p:nvSpPr>
          <p:cNvPr id="17" name="Text 15"/>
          <p:cNvSpPr/>
          <p:nvPr/>
        </p:nvSpPr>
        <p:spPr>
          <a:xfrm>
            <a:off x="9261128" y="6728222"/>
            <a:ext cx="624929" cy="447675"/>
          </a:xfrm>
          <a:prstGeom prst="rect">
            <a:avLst/>
          </a:prstGeom>
          <a:noFill/>
          <a:ln/>
        </p:spPr>
        <p:txBody>
          <a:bodyPr wrap="square" lIns="25400" tIns="25400" rIns="25400" bIns="25400" rtlCol="0" anchor="t">
            <a:normAutofit/>
          </a:bodyPr>
          <a:lstStyle/>
          <a:p>
            <a:pPr algn="l" indent="0" marL="0">
              <a:buNone/>
            </a:pPr>
            <a:r>
              <a:rPr lang="en-US" sz="2400" dirty="0">
                <a:solidFill>
                  <a:srgbClr val="93573B"/>
                </a:solidFill>
                <a:latin typeface="Courier New" pitchFamily="34" charset="0"/>
                <a:ea typeface="Courier New" pitchFamily="34" charset="-122"/>
                <a:cs typeface="Courier New" pitchFamily="34" charset="-120"/>
              </a:rPr>
              <a:t>+18</a:t>
            </a:r>
            <a:endParaRPr lang="en-US" sz="2400" dirty="0"/>
          </a:p>
        </p:txBody>
      </p:sp>
      <p:sp>
        <p:nvSpPr>
          <p:cNvPr id="18" name="Text 16"/>
          <p:cNvSpPr/>
          <p:nvPr/>
        </p:nvSpPr>
        <p:spPr>
          <a:xfrm>
            <a:off x="1295400" y="7347347"/>
            <a:ext cx="8468931"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Country never seen on this card</a:t>
            </a:r>
            <a:endParaRPr lang="en-US" sz="2025" dirty="0"/>
          </a:p>
        </p:txBody>
      </p:sp>
      <p:sp>
        <p:nvSpPr>
          <p:cNvPr id="19" name="Text 17"/>
          <p:cNvSpPr/>
          <p:nvPr/>
        </p:nvSpPr>
        <p:spPr>
          <a:xfrm>
            <a:off x="9261128" y="7280672"/>
            <a:ext cx="624929" cy="447675"/>
          </a:xfrm>
          <a:prstGeom prst="rect">
            <a:avLst/>
          </a:prstGeom>
          <a:noFill/>
          <a:ln/>
        </p:spPr>
        <p:txBody>
          <a:bodyPr wrap="square" lIns="25400" tIns="25400" rIns="25400" bIns="25400" rtlCol="0" anchor="t">
            <a:normAutofit/>
          </a:bodyPr>
          <a:lstStyle/>
          <a:p>
            <a:pPr algn="l" indent="0" marL="0">
              <a:buNone/>
            </a:pPr>
            <a:r>
              <a:rPr lang="en-US" sz="2400" dirty="0">
                <a:solidFill>
                  <a:srgbClr val="93573B"/>
                </a:solidFill>
                <a:latin typeface="Courier New" pitchFamily="34" charset="0"/>
                <a:ea typeface="Courier New" pitchFamily="34" charset="-122"/>
                <a:cs typeface="Courier New" pitchFamily="34" charset="-120"/>
              </a:rPr>
              <a:t>+14</a:t>
            </a:r>
            <a:endParaRPr lang="en-US" sz="2400" dirty="0"/>
          </a:p>
        </p:txBody>
      </p:sp>
      <p:sp>
        <p:nvSpPr>
          <p:cNvPr id="20" name="Text 18"/>
          <p:cNvSpPr/>
          <p:nvPr/>
        </p:nvSpPr>
        <p:spPr>
          <a:xfrm>
            <a:off x="1295400" y="7852172"/>
            <a:ext cx="9365903"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8818C"/>
                </a:solidFill>
                <a:latin typeface="Courier New" pitchFamily="34" charset="0"/>
                <a:ea typeface="Courier New" pitchFamily="34" charset="-122"/>
                <a:cs typeface="Courier New" pitchFamily="34" charset="-120"/>
              </a:rPr>
              <a:t>FOUR CONDITIONS, FOUR POINT VALUES</a:t>
            </a:r>
            <a:endParaRPr lang="en-US" sz="1800" dirty="0"/>
          </a:p>
        </p:txBody>
      </p:sp>
      <p:sp>
        <p:nvSpPr>
          <p:cNvPr id="21" name="Shape 19"/>
          <p:cNvSpPr/>
          <p:nvPr/>
        </p:nvSpPr>
        <p:spPr>
          <a:xfrm>
            <a:off x="1066800" y="8299847"/>
            <a:ext cx="8743057" cy="9525"/>
          </a:xfrm>
          <a:prstGeom prst="rect">
            <a:avLst/>
          </a:prstGeom>
          <a:solidFill>
            <a:srgbClr val="C8CFD5"/>
          </a:solidFill>
          <a:ln/>
        </p:spPr>
      </p:sp>
      <p:sp>
        <p:nvSpPr>
          <p:cNvPr id="22" name="Text 20"/>
          <p:cNvSpPr/>
          <p:nvPr/>
        </p:nvSpPr>
        <p:spPr>
          <a:xfrm>
            <a:off x="1066800" y="8690372"/>
            <a:ext cx="8418671" cy="409575"/>
          </a:xfrm>
          <a:prstGeom prst="rect">
            <a:avLst/>
          </a:prstGeom>
          <a:noFill/>
          <a:ln/>
        </p:spPr>
        <p:txBody>
          <a:bodyPr wrap="square" lIns="25400" tIns="25400" rIns="25400" bIns="25400" rtlCol="0" anchor="t">
            <a:normAutofit/>
          </a:bodyPr>
          <a:lstStyle/>
          <a:p>
            <a:pPr algn="l" indent="0" marL="0">
              <a:buNone/>
            </a:pPr>
            <a:r>
              <a:rPr lang="en-US" sz="2400" dirty="0">
                <a:solidFill>
                  <a:srgbClr val="565F69"/>
                </a:solidFill>
                <a:latin typeface="Arial" pitchFamily="34" charset="0"/>
                <a:ea typeface="Arial" pitchFamily="34" charset="-122"/>
                <a:cs typeface="Arial" pitchFamily="34" charset="-120"/>
              </a:rPr>
              <a:t>The rule's score</a:t>
            </a:r>
            <a:endParaRPr lang="en-US" sz="2400" dirty="0"/>
          </a:p>
        </p:txBody>
      </p:sp>
      <p:sp>
        <p:nvSpPr>
          <p:cNvPr id="23" name="Text 21"/>
          <p:cNvSpPr/>
          <p:nvPr/>
        </p:nvSpPr>
        <p:spPr>
          <a:xfrm>
            <a:off x="8986838" y="8404622"/>
            <a:ext cx="899220" cy="723900"/>
          </a:xfrm>
          <a:prstGeom prst="rect">
            <a:avLst/>
          </a:prstGeom>
          <a:noFill/>
          <a:ln/>
        </p:spPr>
        <p:txBody>
          <a:bodyPr wrap="square" lIns="25400" tIns="25400" rIns="25400" bIns="25400" rtlCol="0" anchor="t">
            <a:normAutofit/>
          </a:bodyPr>
          <a:lstStyle/>
          <a:p>
            <a:pPr algn="l" indent="0" marL="0">
              <a:lnSpc>
                <a:spcPct val="87805"/>
              </a:lnSpc>
              <a:buNone/>
            </a:pPr>
            <a:r>
              <a:rPr lang="en-US" sz="5400" dirty="0">
                <a:solidFill>
                  <a:srgbClr val="1B222B"/>
                </a:solidFill>
                <a:latin typeface="Courier New" pitchFamily="34" charset="0"/>
                <a:ea typeface="Courier New" pitchFamily="34" charset="-122"/>
                <a:cs typeface="Courier New" pitchFamily="34" charset="-120"/>
              </a:rPr>
              <a:t>87</a:t>
            </a:r>
            <a:endParaRPr lang="en-US" sz="5400" dirty="0"/>
          </a:p>
        </p:txBody>
      </p:sp>
      <p:sp>
        <p:nvSpPr>
          <p:cNvPr id="24" name="Text 22"/>
          <p:cNvSpPr/>
          <p:nvPr/>
        </p:nvSpPr>
        <p:spPr>
          <a:xfrm>
            <a:off x="10495657" y="4385072"/>
            <a:ext cx="7398097"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E6C9B"/>
                </a:solidFill>
                <a:latin typeface="Courier New" pitchFamily="34" charset="0"/>
                <a:ea typeface="Courier New" pitchFamily="34" charset="-122"/>
                <a:cs typeface="Courier New" pitchFamily="34" charset="-120"/>
              </a:rPr>
              <a:t>WHAT HOLDS IT TRUE</a:t>
            </a:r>
            <a:endParaRPr lang="en-US" sz="1800" dirty="0"/>
          </a:p>
        </p:txBody>
      </p:sp>
      <p:sp>
        <p:nvSpPr>
          <p:cNvPr id="25" name="Text 23"/>
          <p:cNvSpPr/>
          <p:nvPr/>
        </p:nvSpPr>
        <p:spPr>
          <a:xfrm>
            <a:off x="10495657" y="4832747"/>
            <a:ext cx="6927309"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If the conditions do not add up to the number, the API returns an error rather than a payload.</a:t>
            </a:r>
            <a:endParaRPr lang="en-US" sz="2025" dirty="0"/>
          </a:p>
        </p:txBody>
      </p:sp>
      <p:sp>
        <p:nvSpPr>
          <p:cNvPr id="26" name="Text 24"/>
          <p:cNvSpPr/>
          <p:nvPr/>
        </p:nvSpPr>
        <p:spPr>
          <a:xfrm>
            <a:off x="10495657" y="5730776"/>
            <a:ext cx="6927309"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Every number in an explanation names the row it came from. One that cannot fails the build.</a:t>
            </a:r>
            <a:endParaRPr lang="en-US" sz="2025" dirty="0"/>
          </a:p>
        </p:txBody>
      </p:sp>
      <p:sp>
        <p:nvSpPr>
          <p:cNvPr id="27" name="Text 25"/>
          <p:cNvSpPr/>
          <p:nvPr/>
        </p:nvSpPr>
        <p:spPr>
          <a:xfrm>
            <a:off x="10495657" y="6628805"/>
            <a:ext cx="6927309"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There is no language model anywhere in this path — by design.</a:t>
            </a:r>
            <a:endParaRPr lang="en-US" sz="2025" dirty="0"/>
          </a:p>
        </p:txBody>
      </p:sp>
      <p:sp>
        <p:nvSpPr>
          <p:cNvPr id="28" name="Shape 26"/>
          <p:cNvSpPr/>
          <p:nvPr/>
        </p:nvSpPr>
        <p:spPr>
          <a:xfrm>
            <a:off x="10495657" y="7564934"/>
            <a:ext cx="6725543" cy="9525"/>
          </a:xfrm>
          <a:prstGeom prst="rect">
            <a:avLst/>
          </a:prstGeom>
          <a:solidFill>
            <a:srgbClr val="CED5DC"/>
          </a:solidFill>
          <a:ln/>
        </p:spPr>
      </p:sp>
      <p:sp>
        <p:nvSpPr>
          <p:cNvPr id="29" name="Text 27"/>
          <p:cNvSpPr/>
          <p:nvPr/>
        </p:nvSpPr>
        <p:spPr>
          <a:xfrm>
            <a:off x="10495657" y="7726859"/>
            <a:ext cx="6927309" cy="1156543"/>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464E58"/>
                </a:solidFill>
                <a:latin typeface="Arial" pitchFamily="34" charset="0"/>
                <a:ea typeface="Arial" pitchFamily="34" charset="-122"/>
                <a:cs typeface="Arial" pitchFamily="34" charset="-120"/>
              </a:rPr>
              <a:t>A transaction can trip several rules. Their scores combine into one — and a fact that two rules both mention is still counted once.</a:t>
            </a:r>
            <a:endParaRPr lang="en-US" sz="20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33"/>
        </a:solidFill>
      </p:bgPr>
    </p:bg>
    <p:spTree>
      <p:nvGrpSpPr>
        <p:cNvPr id="1" name=""/>
        <p:cNvGrpSpPr/>
        <p:nvPr/>
      </p:nvGrpSpPr>
      <p:grpSpPr>
        <a:xfrm>
          <a:off x="0" y="0"/>
          <a:ext cx="0" cy="0"/>
          <a:chOff x="0" y="0"/>
          <a:chExt cx="0" cy="0"/>
        </a:xfrm>
      </p:grpSpPr>
      <p:sp>
        <p:nvSpPr>
          <p:cNvPr id="2" name="Text 0"/>
          <p:cNvSpPr/>
          <p:nvPr/>
        </p:nvSpPr>
        <p:spPr>
          <a:xfrm>
            <a:off x="1066800" y="838200"/>
            <a:ext cx="11870844"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ECEFF2"/>
                </a:solidFill>
                <a:latin typeface="Arial" pitchFamily="34" charset="0"/>
                <a:ea typeface="Arial" pitchFamily="34" charset="-122"/>
                <a:cs typeface="Arial" pitchFamily="34" charset="-120"/>
              </a:rPr>
              <a:t>Logic lives in rows — so change is cheap</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E8792"/>
                </a:solidFill>
                <a:latin typeface="Courier New" pitchFamily="34" charset="0"/>
                <a:ea typeface="Courier New" pitchFamily="34" charset="-122"/>
                <a:cs typeface="Courier New" pitchFamily="34" charset="-120"/>
              </a:rPr>
              <a:t>08</a:t>
            </a:r>
            <a:endParaRPr lang="en-US" sz="1800" dirty="0"/>
          </a:p>
        </p:txBody>
      </p:sp>
      <p:sp>
        <p:nvSpPr>
          <p:cNvPr id="4" name="Shape 2"/>
          <p:cNvSpPr/>
          <p:nvPr/>
        </p:nvSpPr>
        <p:spPr>
          <a:xfrm>
            <a:off x="1066800" y="1866900"/>
            <a:ext cx="16154400" cy="9525"/>
          </a:xfrm>
          <a:prstGeom prst="rect">
            <a:avLst/>
          </a:prstGeom>
          <a:solidFill>
            <a:srgbClr val="3B434D"/>
          </a:solidFill>
          <a:ln/>
        </p:spPr>
      </p:sp>
      <p:sp>
        <p:nvSpPr>
          <p:cNvPr id="5" name="Text 3"/>
          <p:cNvSpPr/>
          <p:nvPr/>
        </p:nvSpPr>
        <p:spPr>
          <a:xfrm>
            <a:off x="1066800" y="2416373"/>
            <a:ext cx="15304770" cy="1110853"/>
          </a:xfrm>
          <a:prstGeom prst="rect">
            <a:avLst/>
          </a:prstGeom>
          <a:noFill/>
          <a:ln/>
        </p:spPr>
        <p:txBody>
          <a:bodyPr wrap="square" lIns="25400" tIns="25400" rIns="25400" bIns="25400" rtlCol="0" anchor="t">
            <a:normAutofit/>
          </a:bodyPr>
          <a:lstStyle/>
          <a:p>
            <a:pPr algn="l" indent="0" marL="0">
              <a:lnSpc>
                <a:spcPct val="112640"/>
              </a:lnSpc>
              <a:buNone/>
            </a:pPr>
            <a:r>
              <a:rPr lang="en-US" sz="3300" dirty="0">
                <a:solidFill>
                  <a:srgbClr val="ECEFF2"/>
                </a:solidFill>
                <a:latin typeface="Arial" pitchFamily="34" charset="0"/>
                <a:ea typeface="Arial" pitchFamily="34" charset="-122"/>
                <a:cs typeface="Arial" pitchFamily="34" charset="-120"/>
              </a:rPr>
              <a:t>A rule is rows, and the code is an interpreter that knows no fraud pattern by name — so adding one costs </a:t>
            </a:r>
            <a:pPr algn="l" indent="0" marL="0">
              <a:lnSpc>
                <a:spcPct val="112640"/>
              </a:lnSpc>
              <a:buNone/>
            </a:pPr>
            <a:r>
              <a:rPr lang="en-US" sz="3300" dirty="0">
                <a:solidFill>
                  <a:srgbClr val="91C3F6"/>
                </a:solidFill>
                <a:latin typeface="Arial" pitchFamily="34" charset="0"/>
                <a:ea typeface="Arial" pitchFamily="34" charset="-122"/>
                <a:cs typeface="Arial" pitchFamily="34" charset="-120"/>
              </a:rPr>
              <a:t>INSERT statements</a:t>
            </a:r>
            <a:pPr algn="l" indent="0" marL="0">
              <a:lnSpc>
                <a:spcPct val="112640"/>
              </a:lnSpc>
              <a:buNone/>
            </a:pPr>
            <a:r>
              <a:rPr lang="en-US" sz="3300" dirty="0">
                <a:solidFill>
                  <a:srgbClr val="ECEFF2"/>
                </a:solidFill>
                <a:latin typeface="Arial" pitchFamily="34" charset="0"/>
                <a:ea typeface="Arial" pitchFamily="34" charset="-122"/>
                <a:cs typeface="Arial" pitchFamily="34" charset="-120"/>
              </a:rPr>
              <a:t>, not a release.</a:t>
            </a:r>
            <a:endParaRPr lang="en-US" sz="3300" dirty="0"/>
          </a:p>
        </p:txBody>
      </p:sp>
      <p:sp>
        <p:nvSpPr>
          <p:cNvPr id="6" name="Text 4"/>
          <p:cNvSpPr/>
          <p:nvPr/>
        </p:nvSpPr>
        <p:spPr>
          <a:xfrm>
            <a:off x="1314450" y="3870127"/>
            <a:ext cx="960623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8A939F"/>
                </a:solidFill>
                <a:latin typeface="Courier New" pitchFamily="34" charset="0"/>
                <a:ea typeface="Courier New" pitchFamily="34" charset="-122"/>
                <a:cs typeface="Courier New" pitchFamily="34" charset="-120"/>
              </a:rPr>
              <a:t>CHANGE</a:t>
            </a:r>
            <a:endParaRPr lang="en-US" sz="1800" dirty="0"/>
          </a:p>
        </p:txBody>
      </p:sp>
      <p:sp>
        <p:nvSpPr>
          <p:cNvPr id="7" name="Text 5"/>
          <p:cNvSpPr/>
          <p:nvPr/>
        </p:nvSpPr>
        <p:spPr>
          <a:xfrm>
            <a:off x="10504587" y="3870127"/>
            <a:ext cx="711586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8A939F"/>
                </a:solidFill>
                <a:latin typeface="Courier New" pitchFamily="34" charset="0"/>
                <a:ea typeface="Courier New" pitchFamily="34" charset="-122"/>
                <a:cs typeface="Courier New" pitchFamily="34" charset="-120"/>
              </a:rPr>
              <a:t>WHAT IT COSTS</a:t>
            </a:r>
            <a:endParaRPr lang="en-US" sz="1800" dirty="0"/>
          </a:p>
        </p:txBody>
      </p:sp>
      <p:sp>
        <p:nvSpPr>
          <p:cNvPr id="8" name="Shape 6"/>
          <p:cNvSpPr/>
          <p:nvPr/>
        </p:nvSpPr>
        <p:spPr>
          <a:xfrm>
            <a:off x="1066800" y="4317802"/>
            <a:ext cx="16154400" cy="714375"/>
          </a:xfrm>
          <a:prstGeom prst="rect">
            <a:avLst/>
          </a:prstGeom>
          <a:solidFill>
            <a:srgbClr val="2D3947"/>
          </a:solidFill>
          <a:ln/>
        </p:spPr>
      </p:sp>
      <p:sp>
        <p:nvSpPr>
          <p:cNvPr id="9" name="Text 7"/>
          <p:cNvSpPr/>
          <p:nvPr/>
        </p:nvSpPr>
        <p:spPr>
          <a:xfrm>
            <a:off x="1314450" y="4489252"/>
            <a:ext cx="960623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A new rule over existing features</a:t>
            </a:r>
            <a:endParaRPr lang="en-US" sz="2400" dirty="0"/>
          </a:p>
        </p:txBody>
      </p:sp>
      <p:sp>
        <p:nvSpPr>
          <p:cNvPr id="10" name="Text 8"/>
          <p:cNvSpPr/>
          <p:nvPr/>
        </p:nvSpPr>
        <p:spPr>
          <a:xfrm>
            <a:off x="10504587" y="4489252"/>
            <a:ext cx="711586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A2C8F0"/>
                </a:solidFill>
                <a:latin typeface="Arial" pitchFamily="34" charset="0"/>
                <a:ea typeface="Arial" pitchFamily="34" charset="-122"/>
                <a:cs typeface="Arial" pitchFamily="34" charset="-120"/>
              </a:rPr>
              <a:t>Two INSERTs, or one API call</a:t>
            </a:r>
            <a:endParaRPr lang="en-US" sz="2400" dirty="0"/>
          </a:p>
        </p:txBody>
      </p:sp>
      <p:sp>
        <p:nvSpPr>
          <p:cNvPr id="11" name="Shape 9"/>
          <p:cNvSpPr/>
          <p:nvPr/>
        </p:nvSpPr>
        <p:spPr>
          <a:xfrm>
            <a:off x="1066800" y="5146477"/>
            <a:ext cx="16154400" cy="714375"/>
          </a:xfrm>
          <a:prstGeom prst="rect">
            <a:avLst/>
          </a:prstGeom>
          <a:solidFill>
            <a:srgbClr val="2D3947"/>
          </a:solidFill>
          <a:ln/>
        </p:spPr>
      </p:sp>
      <p:sp>
        <p:nvSpPr>
          <p:cNvPr id="12" name="Text 10"/>
          <p:cNvSpPr/>
          <p:nvPr/>
        </p:nvSpPr>
        <p:spPr>
          <a:xfrm>
            <a:off x="1314450" y="5317927"/>
            <a:ext cx="960623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A new feature, existing computation</a:t>
            </a:r>
            <a:endParaRPr lang="en-US" sz="2400" dirty="0"/>
          </a:p>
        </p:txBody>
      </p:sp>
      <p:sp>
        <p:nvSpPr>
          <p:cNvPr id="13" name="Text 11"/>
          <p:cNvSpPr/>
          <p:nvPr/>
        </p:nvSpPr>
        <p:spPr>
          <a:xfrm>
            <a:off x="10504587" y="5317927"/>
            <a:ext cx="711586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A2C8F0"/>
                </a:solidFill>
                <a:latin typeface="Arial" pitchFamily="34" charset="0"/>
                <a:ea typeface="Arial" pitchFamily="34" charset="-122"/>
                <a:cs typeface="Arial" pitchFamily="34" charset="-120"/>
              </a:rPr>
              <a:t>One INSERT, and a pass to compute it</a:t>
            </a:r>
            <a:endParaRPr lang="en-US" sz="2400" dirty="0"/>
          </a:p>
        </p:txBody>
      </p:sp>
      <p:sp>
        <p:nvSpPr>
          <p:cNvPr id="14" name="Shape 12"/>
          <p:cNvSpPr/>
          <p:nvPr/>
        </p:nvSpPr>
        <p:spPr>
          <a:xfrm>
            <a:off x="1066800" y="5975152"/>
            <a:ext cx="16154400" cy="714375"/>
          </a:xfrm>
          <a:prstGeom prst="rect">
            <a:avLst/>
          </a:prstGeom>
          <a:solidFill>
            <a:srgbClr val="2D3947"/>
          </a:solidFill>
          <a:ln/>
        </p:spPr>
      </p:sp>
      <p:sp>
        <p:nvSpPr>
          <p:cNvPr id="15" name="Text 13"/>
          <p:cNvSpPr/>
          <p:nvPr/>
        </p:nvSpPr>
        <p:spPr>
          <a:xfrm>
            <a:off x="1314450" y="6146602"/>
            <a:ext cx="960623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A threshold, price, band or window</a:t>
            </a:r>
            <a:endParaRPr lang="en-US" sz="2400" dirty="0"/>
          </a:p>
        </p:txBody>
      </p:sp>
      <p:sp>
        <p:nvSpPr>
          <p:cNvPr id="16" name="Text 14"/>
          <p:cNvSpPr/>
          <p:nvPr/>
        </p:nvSpPr>
        <p:spPr>
          <a:xfrm>
            <a:off x="10504587" y="6146602"/>
            <a:ext cx="711586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A2C8F0"/>
                </a:solidFill>
                <a:latin typeface="Arial" pitchFamily="34" charset="0"/>
                <a:ea typeface="Arial" pitchFamily="34" charset="-122"/>
                <a:cs typeface="Arial" pitchFamily="34" charset="-120"/>
              </a:rPr>
              <a:t>An UPDATE, filed with its evidence</a:t>
            </a:r>
            <a:endParaRPr lang="en-US" sz="2400" dirty="0"/>
          </a:p>
        </p:txBody>
      </p:sp>
      <p:sp>
        <p:nvSpPr>
          <p:cNvPr id="17" name="Text 15"/>
          <p:cNvSpPr/>
          <p:nvPr/>
        </p:nvSpPr>
        <p:spPr>
          <a:xfrm>
            <a:off x="1314450" y="6975277"/>
            <a:ext cx="960623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989FA8"/>
                </a:solidFill>
                <a:latin typeface="Arial" pitchFamily="34" charset="0"/>
                <a:ea typeface="Arial" pitchFamily="34" charset="-122"/>
                <a:cs typeface="Arial" pitchFamily="34" charset="-120"/>
              </a:rPr>
              <a:t>A new kind of computation</a:t>
            </a:r>
            <a:endParaRPr lang="en-US" sz="2400" dirty="0"/>
          </a:p>
        </p:txBody>
      </p:sp>
      <p:sp>
        <p:nvSpPr>
          <p:cNvPr id="18" name="Text 16"/>
          <p:cNvSpPr/>
          <p:nvPr/>
        </p:nvSpPr>
        <p:spPr>
          <a:xfrm>
            <a:off x="10504587" y="6975277"/>
            <a:ext cx="711586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989FA8"/>
                </a:solidFill>
                <a:latin typeface="Arial" pitchFamily="34" charset="0"/>
                <a:ea typeface="Arial" pitchFamily="34" charset="-122"/>
                <a:cs typeface="Arial" pitchFamily="34" charset="-120"/>
              </a:rPr>
              <a:t>A data-engineering ticket</a:t>
            </a:r>
            <a:endParaRPr lang="en-US" sz="2400" dirty="0"/>
          </a:p>
        </p:txBody>
      </p:sp>
      <p:sp>
        <p:nvSpPr>
          <p:cNvPr id="19" name="Text 17"/>
          <p:cNvSpPr/>
          <p:nvPr/>
        </p:nvSpPr>
        <p:spPr>
          <a:xfrm>
            <a:off x="1314450" y="7461052"/>
            <a:ext cx="960623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989FA8"/>
                </a:solidFill>
                <a:latin typeface="Arial" pitchFamily="34" charset="0"/>
                <a:ea typeface="Arial" pitchFamily="34" charset="-122"/>
                <a:cs typeface="Arial" pitchFamily="34" charset="-120"/>
              </a:rPr>
              <a:t>A new type of thing to judge</a:t>
            </a:r>
            <a:endParaRPr lang="en-US" sz="2400" dirty="0"/>
          </a:p>
        </p:txBody>
      </p:sp>
      <p:sp>
        <p:nvSpPr>
          <p:cNvPr id="20" name="Text 18"/>
          <p:cNvSpPr/>
          <p:nvPr/>
        </p:nvSpPr>
        <p:spPr>
          <a:xfrm>
            <a:off x="10504587" y="7461052"/>
            <a:ext cx="7115860" cy="409575"/>
          </a:xfrm>
          <a:prstGeom prst="rect">
            <a:avLst/>
          </a:prstGeom>
          <a:noFill/>
          <a:ln/>
        </p:spPr>
        <p:txBody>
          <a:bodyPr wrap="square" lIns="25400" tIns="25400" rIns="25400" bIns="25400" rtlCol="0" anchor="t">
            <a:normAutofit/>
          </a:bodyPr>
          <a:lstStyle/>
          <a:p>
            <a:pPr algn="l" indent="0" marL="0">
              <a:buNone/>
            </a:pPr>
            <a:r>
              <a:rPr lang="en-US" sz="2400" dirty="0">
                <a:solidFill>
                  <a:srgbClr val="989FA8"/>
                </a:solidFill>
                <a:latin typeface="Arial" pitchFamily="34" charset="0"/>
                <a:ea typeface="Arial" pitchFamily="34" charset="-122"/>
                <a:cs typeface="Arial" pitchFamily="34" charset="-120"/>
              </a:rPr>
              <a:t>A code change</a:t>
            </a:r>
            <a:endParaRPr lang="en-US" sz="2400" dirty="0"/>
          </a:p>
        </p:txBody>
      </p:sp>
      <p:sp>
        <p:nvSpPr>
          <p:cNvPr id="21" name="Text 19"/>
          <p:cNvSpPr/>
          <p:nvPr/>
        </p:nvSpPr>
        <p:spPr>
          <a:xfrm>
            <a:off x="1314450" y="8213527"/>
            <a:ext cx="1373505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A4ACB4"/>
                </a:solidFill>
                <a:latin typeface="Arial" pitchFamily="34" charset="0"/>
                <a:ea typeface="Arial" pitchFamily="34" charset="-122"/>
                <a:cs typeface="Arial" pitchFamily="34" charset="-120"/>
              </a:rPr>
              <a:t>The first line is tested, not asserted: a suite builds a working detector while a hook fails the build on any schema change. The last two are named because the claim would be false without them.</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4819323"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Authoring a rule</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09</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Text 3"/>
          <p:cNvSpPr/>
          <p:nvPr/>
        </p:nvSpPr>
        <p:spPr>
          <a:xfrm>
            <a:off x="1066800" y="3809256"/>
            <a:ext cx="4175284"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089A4"/>
                </a:solidFill>
                <a:latin typeface="Courier New" pitchFamily="34" charset="0"/>
                <a:ea typeface="Courier New" pitchFamily="34" charset="-122"/>
                <a:cs typeface="Courier New" pitchFamily="34" charset="-120"/>
              </a:rPr>
              <a:t>01</a:t>
            </a:r>
            <a:endParaRPr lang="en-US" sz="1800" dirty="0"/>
          </a:p>
        </p:txBody>
      </p:sp>
      <p:sp>
        <p:nvSpPr>
          <p:cNvPr id="6" name="Shape 4"/>
          <p:cNvSpPr/>
          <p:nvPr/>
        </p:nvSpPr>
        <p:spPr>
          <a:xfrm>
            <a:off x="1066800" y="4275981"/>
            <a:ext cx="3795713" cy="19050"/>
          </a:xfrm>
          <a:prstGeom prst="rect">
            <a:avLst/>
          </a:prstGeom>
          <a:solidFill>
            <a:srgbClr val="3E6C9B"/>
          </a:solidFill>
          <a:ln/>
        </p:spPr>
      </p:sp>
      <p:sp>
        <p:nvSpPr>
          <p:cNvPr id="7" name="Text 5"/>
          <p:cNvSpPr/>
          <p:nvPr/>
        </p:nvSpPr>
        <p:spPr>
          <a:xfrm>
            <a:off x="1066800" y="4466481"/>
            <a:ext cx="4175284"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Validate</a:t>
            </a:r>
            <a:endParaRPr lang="en-US" sz="3300" dirty="0"/>
          </a:p>
        </p:txBody>
      </p:sp>
      <p:sp>
        <p:nvSpPr>
          <p:cNvPr id="8" name="Text 6"/>
          <p:cNvSpPr/>
          <p:nvPr/>
        </p:nvSpPr>
        <p:spPr>
          <a:xfrm>
            <a:off x="1066800" y="5152281"/>
            <a:ext cx="3909584"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565F69"/>
                </a:solidFill>
                <a:latin typeface="Arial" pitchFamily="34" charset="0"/>
                <a:ea typeface="Arial" pitchFamily="34" charset="-122"/>
                <a:cs typeface="Arial" pitchFamily="34" charset="-120"/>
              </a:rPr>
              <a:t>Reject the shapes that would fail silently instead of loudly</a:t>
            </a:r>
            <a:endParaRPr lang="en-US" sz="2025" dirty="0"/>
          </a:p>
        </p:txBody>
      </p:sp>
      <p:sp>
        <p:nvSpPr>
          <p:cNvPr id="9" name="Text 7"/>
          <p:cNvSpPr/>
          <p:nvPr/>
        </p:nvSpPr>
        <p:spPr>
          <a:xfrm>
            <a:off x="5186363" y="3809256"/>
            <a:ext cx="4175284"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089A4"/>
                </a:solidFill>
                <a:latin typeface="Courier New" pitchFamily="34" charset="0"/>
                <a:ea typeface="Courier New" pitchFamily="34" charset="-122"/>
                <a:cs typeface="Courier New" pitchFamily="34" charset="-120"/>
              </a:rPr>
              <a:t>02</a:t>
            </a:r>
            <a:endParaRPr lang="en-US" sz="1800" dirty="0"/>
          </a:p>
        </p:txBody>
      </p:sp>
      <p:sp>
        <p:nvSpPr>
          <p:cNvPr id="10" name="Shape 8"/>
          <p:cNvSpPr/>
          <p:nvPr/>
        </p:nvSpPr>
        <p:spPr>
          <a:xfrm>
            <a:off x="5186363" y="4275981"/>
            <a:ext cx="3795713" cy="19050"/>
          </a:xfrm>
          <a:prstGeom prst="rect">
            <a:avLst/>
          </a:prstGeom>
          <a:solidFill>
            <a:srgbClr val="3E6C9B"/>
          </a:solidFill>
          <a:ln/>
        </p:spPr>
      </p:sp>
      <p:sp>
        <p:nvSpPr>
          <p:cNvPr id="11" name="Text 9"/>
          <p:cNvSpPr/>
          <p:nvPr/>
        </p:nvSpPr>
        <p:spPr>
          <a:xfrm>
            <a:off x="5186363" y="4466481"/>
            <a:ext cx="4175284"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Simulate</a:t>
            </a:r>
            <a:endParaRPr lang="en-US" sz="3300" dirty="0"/>
          </a:p>
        </p:txBody>
      </p:sp>
      <p:sp>
        <p:nvSpPr>
          <p:cNvPr id="12" name="Text 10"/>
          <p:cNvSpPr/>
          <p:nvPr/>
        </p:nvSpPr>
        <p:spPr>
          <a:xfrm>
            <a:off x="5186363" y="5152281"/>
            <a:ext cx="3909584"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565F69"/>
                </a:solidFill>
                <a:latin typeface="Arial" pitchFamily="34" charset="0"/>
                <a:ea typeface="Arial" pitchFamily="34" charset="-122"/>
                <a:cs typeface="Arial" pitchFamily="34" charset="-120"/>
              </a:rPr>
              <a:t>Run it against real history; nothing survives the answer</a:t>
            </a:r>
            <a:endParaRPr lang="en-US" sz="2025" dirty="0"/>
          </a:p>
        </p:txBody>
      </p:sp>
      <p:sp>
        <p:nvSpPr>
          <p:cNvPr id="13" name="Text 11"/>
          <p:cNvSpPr/>
          <p:nvPr/>
        </p:nvSpPr>
        <p:spPr>
          <a:xfrm>
            <a:off x="9305925" y="3809256"/>
            <a:ext cx="4175284"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089A4"/>
                </a:solidFill>
                <a:latin typeface="Courier New" pitchFamily="34" charset="0"/>
                <a:ea typeface="Courier New" pitchFamily="34" charset="-122"/>
                <a:cs typeface="Courier New" pitchFamily="34" charset="-120"/>
              </a:rPr>
              <a:t>03</a:t>
            </a:r>
            <a:endParaRPr lang="en-US" sz="1800" dirty="0"/>
          </a:p>
        </p:txBody>
      </p:sp>
      <p:sp>
        <p:nvSpPr>
          <p:cNvPr id="14" name="Shape 12"/>
          <p:cNvSpPr/>
          <p:nvPr/>
        </p:nvSpPr>
        <p:spPr>
          <a:xfrm>
            <a:off x="9305925" y="4275981"/>
            <a:ext cx="3795713" cy="19050"/>
          </a:xfrm>
          <a:prstGeom prst="rect">
            <a:avLst/>
          </a:prstGeom>
          <a:solidFill>
            <a:srgbClr val="3E6C9B"/>
          </a:solidFill>
          <a:ln/>
        </p:spPr>
      </p:sp>
      <p:sp>
        <p:nvSpPr>
          <p:cNvPr id="15" name="Text 13"/>
          <p:cNvSpPr/>
          <p:nvPr/>
        </p:nvSpPr>
        <p:spPr>
          <a:xfrm>
            <a:off x="9305925" y="4466481"/>
            <a:ext cx="4175284"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Shadow</a:t>
            </a:r>
            <a:endParaRPr lang="en-US" sz="3300" dirty="0"/>
          </a:p>
        </p:txBody>
      </p:sp>
      <p:sp>
        <p:nvSpPr>
          <p:cNvPr id="16" name="Text 14"/>
          <p:cNvSpPr/>
          <p:nvPr/>
        </p:nvSpPr>
        <p:spPr>
          <a:xfrm>
            <a:off x="9305925" y="5152281"/>
            <a:ext cx="3909584"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565F69"/>
                </a:solidFill>
                <a:latin typeface="Arial" pitchFamily="34" charset="0"/>
                <a:ea typeface="Arial" pitchFamily="34" charset="-122"/>
                <a:cs typeface="Arial" pitchFamily="34" charset="-120"/>
              </a:rPr>
              <a:t>Scored on everything, recorded in full, acting on nobody</a:t>
            </a:r>
            <a:endParaRPr lang="en-US" sz="2025" dirty="0"/>
          </a:p>
        </p:txBody>
      </p:sp>
      <p:sp>
        <p:nvSpPr>
          <p:cNvPr id="17" name="Text 15"/>
          <p:cNvSpPr/>
          <p:nvPr/>
        </p:nvSpPr>
        <p:spPr>
          <a:xfrm>
            <a:off x="13425488" y="3809256"/>
            <a:ext cx="4175284"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7089A4"/>
                </a:solidFill>
                <a:latin typeface="Courier New" pitchFamily="34" charset="0"/>
                <a:ea typeface="Courier New" pitchFamily="34" charset="-122"/>
                <a:cs typeface="Courier New" pitchFamily="34" charset="-120"/>
              </a:rPr>
              <a:t>04</a:t>
            </a:r>
            <a:endParaRPr lang="en-US" sz="1800" dirty="0"/>
          </a:p>
        </p:txBody>
      </p:sp>
      <p:sp>
        <p:nvSpPr>
          <p:cNvPr id="18" name="Shape 16"/>
          <p:cNvSpPr/>
          <p:nvPr/>
        </p:nvSpPr>
        <p:spPr>
          <a:xfrm>
            <a:off x="13425488" y="4275981"/>
            <a:ext cx="3795713" cy="19050"/>
          </a:xfrm>
          <a:prstGeom prst="rect">
            <a:avLst/>
          </a:prstGeom>
          <a:solidFill>
            <a:srgbClr val="3E6C9B"/>
          </a:solidFill>
          <a:ln/>
        </p:spPr>
      </p:sp>
      <p:sp>
        <p:nvSpPr>
          <p:cNvPr id="19" name="Text 17"/>
          <p:cNvSpPr/>
          <p:nvPr/>
        </p:nvSpPr>
        <p:spPr>
          <a:xfrm>
            <a:off x="13425488" y="4466481"/>
            <a:ext cx="4175284" cy="552450"/>
          </a:xfrm>
          <a:prstGeom prst="rect">
            <a:avLst/>
          </a:prstGeom>
          <a:noFill/>
          <a:ln/>
        </p:spPr>
        <p:txBody>
          <a:bodyPr wrap="square" lIns="25400" tIns="25400" rIns="25400" bIns="25400" rtlCol="0" anchor="t">
            <a:normAutofit/>
          </a:bodyPr>
          <a:lstStyle/>
          <a:p>
            <a:pPr algn="l" indent="0" marL="0">
              <a:buNone/>
            </a:pPr>
            <a:r>
              <a:rPr lang="en-US" sz="3300" spc="-49" kern="0" dirty="0">
                <a:solidFill>
                  <a:srgbClr val="1B222B"/>
                </a:solidFill>
                <a:latin typeface="Arial" pitchFamily="34" charset="0"/>
                <a:ea typeface="Arial" pitchFamily="34" charset="-122"/>
                <a:cs typeface="Arial" pitchFamily="34" charset="-120"/>
              </a:rPr>
              <a:t>Promote</a:t>
            </a:r>
            <a:endParaRPr lang="en-US" sz="3300" dirty="0"/>
          </a:p>
        </p:txBody>
      </p:sp>
      <p:sp>
        <p:nvSpPr>
          <p:cNvPr id="20" name="Text 18"/>
          <p:cNvSpPr/>
          <p:nvPr/>
        </p:nvSpPr>
        <p:spPr>
          <a:xfrm>
            <a:off x="13425488" y="5152281"/>
            <a:ext cx="3909584"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565F69"/>
                </a:solidFill>
                <a:latin typeface="Arial" pitchFamily="34" charset="0"/>
                <a:ea typeface="Arial" pitchFamily="34" charset="-122"/>
                <a:cs typeface="Arial" pitchFamily="34" charset="-120"/>
              </a:rPr>
              <a:t>A separate act, by a named person, on the record</a:t>
            </a:r>
            <a:endParaRPr lang="en-US" sz="2025" dirty="0"/>
          </a:p>
        </p:txBody>
      </p:sp>
      <p:sp>
        <p:nvSpPr>
          <p:cNvPr id="21" name="Shape 19"/>
          <p:cNvSpPr/>
          <p:nvPr/>
        </p:nvSpPr>
        <p:spPr>
          <a:xfrm>
            <a:off x="1066800" y="6469410"/>
            <a:ext cx="13335000" cy="9525"/>
          </a:xfrm>
          <a:prstGeom prst="rect">
            <a:avLst/>
          </a:prstGeom>
          <a:solidFill>
            <a:srgbClr val="CED5DC"/>
          </a:solidFill>
          <a:ln/>
        </p:spPr>
      </p:sp>
      <p:sp>
        <p:nvSpPr>
          <p:cNvPr id="22" name="Text 20"/>
          <p:cNvSpPr/>
          <p:nvPr/>
        </p:nvSpPr>
        <p:spPr>
          <a:xfrm>
            <a:off x="1066800" y="6726585"/>
            <a:ext cx="13735050" cy="903684"/>
          </a:xfrm>
          <a:prstGeom prst="rect">
            <a:avLst/>
          </a:prstGeom>
          <a:noFill/>
          <a:ln/>
        </p:spPr>
        <p:txBody>
          <a:bodyPr wrap="square" lIns="25400" tIns="25400" rIns="25400" bIns="25400" rtlCol="0" anchor="t">
            <a:normAutofit/>
          </a:bodyPr>
          <a:lstStyle/>
          <a:p>
            <a:pPr algn="l" indent="0" marL="0">
              <a:lnSpc>
                <a:spcPct val="122811"/>
              </a:lnSpc>
              <a:buNone/>
            </a:pPr>
            <a:r>
              <a:rPr lang="en-US" sz="2400" dirty="0">
                <a:solidFill>
                  <a:srgbClr val="1B222B"/>
                </a:solidFill>
                <a:latin typeface="Arial" pitchFamily="34" charset="0"/>
                <a:ea typeface="Arial" pitchFamily="34" charset="-122"/>
                <a:cs typeface="Arial" pitchFamily="34" charset="-120"/>
              </a:rPr>
              <a:t>The code that applies a candidate in simulation is the same code that publishes it. What an admin tested is what an admin publishes — the only difference is the commit.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4252555"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Measurement</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10</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Text 3"/>
          <p:cNvSpPr/>
          <p:nvPr/>
        </p:nvSpPr>
        <p:spPr>
          <a:xfrm>
            <a:off x="1066800" y="2219325"/>
            <a:ext cx="16344900" cy="533400"/>
          </a:xfrm>
          <a:prstGeom prst="rect">
            <a:avLst/>
          </a:prstGeom>
          <a:noFill/>
          <a:ln/>
        </p:spPr>
        <p:txBody>
          <a:bodyPr wrap="square" lIns="25400" tIns="25400" rIns="25400" bIns="25400" rtlCol="0" anchor="t">
            <a:normAutofit/>
          </a:bodyPr>
          <a:lstStyle/>
          <a:p>
            <a:pPr algn="l" indent="0" marL="0">
              <a:lnSpc>
                <a:spcPct val="115556"/>
              </a:lnSpc>
              <a:buNone/>
            </a:pPr>
            <a:r>
              <a:rPr lang="en-US" sz="3000" dirty="0">
                <a:solidFill>
                  <a:srgbClr val="1B222B"/>
                </a:solidFill>
                <a:latin typeface="Arial" pitchFamily="34" charset="0"/>
                <a:ea typeface="Arial" pitchFamily="34" charset="-122"/>
                <a:cs typeface="Arial" pitchFamily="34" charset="-120"/>
              </a:rPr>
              <a:t>Every measurement names its window, its denominator, and what it cannot tell you.</a:t>
            </a:r>
            <a:endParaRPr lang="en-US" sz="3000" dirty="0"/>
          </a:p>
        </p:txBody>
      </p:sp>
      <p:sp>
        <p:nvSpPr>
          <p:cNvPr id="6" name="Text 4"/>
          <p:cNvSpPr/>
          <p:nvPr/>
        </p:nvSpPr>
        <p:spPr>
          <a:xfrm>
            <a:off x="1066800" y="3076575"/>
            <a:ext cx="9452997"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E6C9B"/>
                </a:solidFill>
                <a:latin typeface="Courier New" pitchFamily="34" charset="0"/>
                <a:ea typeface="Courier New" pitchFamily="34" charset="-122"/>
                <a:cs typeface="Courier New" pitchFamily="34" charset="-120"/>
              </a:rPr>
              <a:t>ON THE KPI SCREEN</a:t>
            </a:r>
            <a:endParaRPr lang="en-US" sz="1800" dirty="0"/>
          </a:p>
        </p:txBody>
      </p:sp>
      <p:sp>
        <p:nvSpPr>
          <p:cNvPr id="7" name="Shape 5"/>
          <p:cNvSpPr/>
          <p:nvPr/>
        </p:nvSpPr>
        <p:spPr>
          <a:xfrm>
            <a:off x="1066800" y="3943350"/>
            <a:ext cx="8593634" cy="9525"/>
          </a:xfrm>
          <a:prstGeom prst="rect">
            <a:avLst/>
          </a:prstGeom>
          <a:solidFill>
            <a:srgbClr val="D5DCE3"/>
          </a:solidFill>
          <a:ln/>
        </p:spPr>
      </p:sp>
      <p:sp>
        <p:nvSpPr>
          <p:cNvPr id="8" name="Text 6"/>
          <p:cNvSpPr/>
          <p:nvPr/>
        </p:nvSpPr>
        <p:spPr>
          <a:xfrm>
            <a:off x="1066800" y="3543300"/>
            <a:ext cx="5127754"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Alert volume</a:t>
            </a:r>
            <a:endParaRPr lang="en-US" sz="2025" dirty="0"/>
          </a:p>
        </p:txBody>
      </p:sp>
      <p:sp>
        <p:nvSpPr>
          <p:cNvPr id="9" name="Text 7"/>
          <p:cNvSpPr/>
          <p:nvPr/>
        </p:nvSpPr>
        <p:spPr>
          <a:xfrm>
            <a:off x="5956995" y="3562350"/>
            <a:ext cx="407378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cases ÷ decisions evaluated</a:t>
            </a:r>
            <a:endParaRPr lang="en-US" sz="1800" dirty="0"/>
          </a:p>
        </p:txBody>
      </p:sp>
      <p:sp>
        <p:nvSpPr>
          <p:cNvPr id="10" name="Shape 8"/>
          <p:cNvSpPr/>
          <p:nvPr/>
        </p:nvSpPr>
        <p:spPr>
          <a:xfrm>
            <a:off x="1066800" y="4457700"/>
            <a:ext cx="8593634" cy="9525"/>
          </a:xfrm>
          <a:prstGeom prst="rect">
            <a:avLst/>
          </a:prstGeom>
          <a:solidFill>
            <a:srgbClr val="D5DCE3"/>
          </a:solidFill>
          <a:ln/>
        </p:spPr>
      </p:sp>
      <p:sp>
        <p:nvSpPr>
          <p:cNvPr id="11" name="Text 9"/>
          <p:cNvSpPr/>
          <p:nvPr/>
        </p:nvSpPr>
        <p:spPr>
          <a:xfrm>
            <a:off x="1066800" y="4057650"/>
            <a:ext cx="4675257"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Score distribution</a:t>
            </a:r>
            <a:endParaRPr lang="en-US" sz="2025" dirty="0"/>
          </a:p>
        </p:txBody>
      </p:sp>
      <p:sp>
        <p:nvSpPr>
          <p:cNvPr id="12" name="Text 10"/>
          <p:cNvSpPr/>
          <p:nvPr/>
        </p:nvSpPr>
        <p:spPr>
          <a:xfrm>
            <a:off x="5545634" y="4076700"/>
            <a:ext cx="452628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how scores spread across bands</a:t>
            </a:r>
            <a:endParaRPr lang="en-US" sz="1800" dirty="0"/>
          </a:p>
        </p:txBody>
      </p:sp>
      <p:sp>
        <p:nvSpPr>
          <p:cNvPr id="13" name="Shape 11"/>
          <p:cNvSpPr/>
          <p:nvPr/>
        </p:nvSpPr>
        <p:spPr>
          <a:xfrm>
            <a:off x="1066800" y="4972050"/>
            <a:ext cx="8593634" cy="9525"/>
          </a:xfrm>
          <a:prstGeom prst="rect">
            <a:avLst/>
          </a:prstGeom>
          <a:solidFill>
            <a:srgbClr val="D5DCE3"/>
          </a:solidFill>
          <a:ln/>
        </p:spPr>
      </p:sp>
      <p:sp>
        <p:nvSpPr>
          <p:cNvPr id="14" name="Text 12"/>
          <p:cNvSpPr/>
          <p:nvPr/>
        </p:nvSpPr>
        <p:spPr>
          <a:xfrm>
            <a:off x="1066800" y="4572000"/>
            <a:ext cx="4976976"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Rule attribution</a:t>
            </a:r>
            <a:endParaRPr lang="en-US" sz="2025" dirty="0"/>
          </a:p>
        </p:txBody>
      </p:sp>
      <p:sp>
        <p:nvSpPr>
          <p:cNvPr id="15" name="Text 13"/>
          <p:cNvSpPr/>
          <p:nvPr/>
        </p:nvSpPr>
        <p:spPr>
          <a:xfrm>
            <a:off x="5819924" y="4591050"/>
            <a:ext cx="4224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which rules raised the cases</a:t>
            </a:r>
            <a:endParaRPr lang="en-US" sz="1800" dirty="0"/>
          </a:p>
        </p:txBody>
      </p:sp>
      <p:sp>
        <p:nvSpPr>
          <p:cNvPr id="16" name="Shape 14"/>
          <p:cNvSpPr/>
          <p:nvPr/>
        </p:nvSpPr>
        <p:spPr>
          <a:xfrm>
            <a:off x="1066800" y="5486400"/>
            <a:ext cx="8593634" cy="9525"/>
          </a:xfrm>
          <a:prstGeom prst="rect">
            <a:avLst/>
          </a:prstGeom>
          <a:solidFill>
            <a:srgbClr val="D5DCE3"/>
          </a:solidFill>
          <a:ln/>
        </p:spPr>
      </p:sp>
      <p:sp>
        <p:nvSpPr>
          <p:cNvPr id="17" name="Text 15"/>
          <p:cNvSpPr/>
          <p:nvPr/>
        </p:nvSpPr>
        <p:spPr>
          <a:xfrm>
            <a:off x="1066800" y="5086350"/>
            <a:ext cx="6334795"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Reason-code frequency</a:t>
            </a:r>
            <a:endParaRPr lang="en-US" sz="2025" dirty="0"/>
          </a:p>
        </p:txBody>
      </p:sp>
      <p:sp>
        <p:nvSpPr>
          <p:cNvPr id="18" name="Text 16"/>
          <p:cNvSpPr/>
          <p:nvPr/>
        </p:nvSpPr>
        <p:spPr>
          <a:xfrm>
            <a:off x="7054304" y="5105400"/>
            <a:ext cx="286674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which signals recur</a:t>
            </a:r>
            <a:endParaRPr lang="en-US" sz="1800" dirty="0"/>
          </a:p>
        </p:txBody>
      </p:sp>
      <p:sp>
        <p:nvSpPr>
          <p:cNvPr id="19" name="Shape 17"/>
          <p:cNvSpPr/>
          <p:nvPr/>
        </p:nvSpPr>
        <p:spPr>
          <a:xfrm>
            <a:off x="1066800" y="6000750"/>
            <a:ext cx="8593634" cy="9525"/>
          </a:xfrm>
          <a:prstGeom prst="rect">
            <a:avLst/>
          </a:prstGeom>
          <a:solidFill>
            <a:srgbClr val="D5DCE3"/>
          </a:solidFill>
          <a:ln/>
        </p:spPr>
      </p:sp>
      <p:sp>
        <p:nvSpPr>
          <p:cNvPr id="20" name="Text 18"/>
          <p:cNvSpPr/>
          <p:nvPr/>
        </p:nvSpPr>
        <p:spPr>
          <a:xfrm>
            <a:off x="1066800" y="5600700"/>
            <a:ext cx="3618994"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Disposition mix</a:t>
            </a:r>
            <a:endParaRPr lang="en-US" sz="2025" dirty="0"/>
          </a:p>
        </p:txBody>
      </p:sp>
      <p:sp>
        <p:nvSpPr>
          <p:cNvPr id="21" name="Text 19"/>
          <p:cNvSpPr/>
          <p:nvPr/>
        </p:nvSpPr>
        <p:spPr>
          <a:xfrm>
            <a:off x="4585395" y="5619750"/>
            <a:ext cx="55825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fraud · false positive · inconclusive</a:t>
            </a:r>
            <a:endParaRPr lang="en-US" sz="1800" dirty="0"/>
          </a:p>
        </p:txBody>
      </p:sp>
      <p:sp>
        <p:nvSpPr>
          <p:cNvPr id="22" name="Shape 20"/>
          <p:cNvSpPr/>
          <p:nvPr/>
        </p:nvSpPr>
        <p:spPr>
          <a:xfrm>
            <a:off x="1066800" y="6515100"/>
            <a:ext cx="8593634" cy="9525"/>
          </a:xfrm>
          <a:prstGeom prst="rect">
            <a:avLst/>
          </a:prstGeom>
          <a:solidFill>
            <a:srgbClr val="D5DCE3"/>
          </a:solidFill>
          <a:ln/>
        </p:spPr>
      </p:sp>
      <p:sp>
        <p:nvSpPr>
          <p:cNvPr id="23" name="Text 21"/>
          <p:cNvSpPr/>
          <p:nvPr/>
        </p:nvSpPr>
        <p:spPr>
          <a:xfrm>
            <a:off x="1066800" y="6115050"/>
            <a:ext cx="5429637"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False-positive rate</a:t>
            </a:r>
            <a:endParaRPr lang="en-US" sz="2025" dirty="0"/>
          </a:p>
        </p:txBody>
      </p:sp>
      <p:sp>
        <p:nvSpPr>
          <p:cNvPr id="24" name="Text 22"/>
          <p:cNvSpPr/>
          <p:nvPr/>
        </p:nvSpPr>
        <p:spPr>
          <a:xfrm>
            <a:off x="6231434" y="6134100"/>
            <a:ext cx="37719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cases closed as not fraud</a:t>
            </a:r>
            <a:endParaRPr lang="en-US" sz="1800" dirty="0"/>
          </a:p>
        </p:txBody>
      </p:sp>
      <p:sp>
        <p:nvSpPr>
          <p:cNvPr id="25" name="Shape 23"/>
          <p:cNvSpPr/>
          <p:nvPr/>
        </p:nvSpPr>
        <p:spPr>
          <a:xfrm>
            <a:off x="1066800" y="7029450"/>
            <a:ext cx="8593634" cy="9525"/>
          </a:xfrm>
          <a:prstGeom prst="rect">
            <a:avLst/>
          </a:prstGeom>
          <a:solidFill>
            <a:srgbClr val="D5DCE3"/>
          </a:solidFill>
          <a:ln/>
        </p:spPr>
      </p:sp>
      <p:sp>
        <p:nvSpPr>
          <p:cNvPr id="26" name="Text 24"/>
          <p:cNvSpPr/>
          <p:nvPr/>
        </p:nvSpPr>
        <p:spPr>
          <a:xfrm>
            <a:off x="1066800" y="6629400"/>
            <a:ext cx="6485736"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Median triage time</a:t>
            </a:r>
            <a:endParaRPr lang="en-US" sz="2025" dirty="0"/>
          </a:p>
        </p:txBody>
      </p:sp>
      <p:sp>
        <p:nvSpPr>
          <p:cNvPr id="27" name="Text 25"/>
          <p:cNvSpPr/>
          <p:nvPr/>
        </p:nvSpPr>
        <p:spPr>
          <a:xfrm>
            <a:off x="7191524" y="6648450"/>
            <a:ext cx="27158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raised to resolved</a:t>
            </a:r>
            <a:endParaRPr lang="en-US" sz="1800" dirty="0"/>
          </a:p>
        </p:txBody>
      </p:sp>
      <p:sp>
        <p:nvSpPr>
          <p:cNvPr id="28" name="Text 26"/>
          <p:cNvSpPr/>
          <p:nvPr/>
        </p:nvSpPr>
        <p:spPr>
          <a:xfrm>
            <a:off x="1066800" y="7143750"/>
            <a:ext cx="4071655"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Action executions</a:t>
            </a:r>
            <a:endParaRPr lang="en-US" sz="2025" dirty="0"/>
          </a:p>
        </p:txBody>
      </p:sp>
      <p:sp>
        <p:nvSpPr>
          <p:cNvPr id="29" name="Text 27"/>
          <p:cNvSpPr/>
          <p:nvPr/>
        </p:nvSpPr>
        <p:spPr>
          <a:xfrm>
            <a:off x="4996904" y="7162800"/>
            <a:ext cx="512988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B646F"/>
                </a:solidFill>
                <a:latin typeface="Courier New" pitchFamily="34" charset="0"/>
                <a:ea typeface="Courier New" pitchFamily="34" charset="-122"/>
                <a:cs typeface="Courier New" pitchFamily="34" charset="-120"/>
              </a:rPr>
              <a:t>what was done, and how it resolved</a:t>
            </a:r>
            <a:endParaRPr lang="en-US" sz="1800" dirty="0"/>
          </a:p>
        </p:txBody>
      </p:sp>
      <p:sp>
        <p:nvSpPr>
          <p:cNvPr id="30" name="Text 28"/>
          <p:cNvSpPr/>
          <p:nvPr/>
        </p:nvSpPr>
        <p:spPr>
          <a:xfrm>
            <a:off x="10346234" y="3076575"/>
            <a:ext cx="7562463"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93573B"/>
                </a:solidFill>
                <a:latin typeface="Courier New" pitchFamily="34" charset="0"/>
                <a:ea typeface="Courier New" pitchFamily="34" charset="-122"/>
                <a:cs typeface="Courier New" pitchFamily="34" charset="-120"/>
              </a:rPr>
              <a:t>PUBLISHED WITH A CAVEAT ON THE WIRE</a:t>
            </a:r>
            <a:endParaRPr lang="en-US" sz="1800" dirty="0"/>
          </a:p>
        </p:txBody>
      </p:sp>
      <p:sp>
        <p:nvSpPr>
          <p:cNvPr id="31" name="Text 29"/>
          <p:cNvSpPr/>
          <p:nvPr/>
        </p:nvSpPr>
        <p:spPr>
          <a:xfrm>
            <a:off x="10346234" y="3543300"/>
            <a:ext cx="7562463"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False-negative rate</a:t>
            </a:r>
            <a:endParaRPr lang="en-US" sz="2025" dirty="0"/>
          </a:p>
        </p:txBody>
      </p:sp>
      <p:sp>
        <p:nvSpPr>
          <p:cNvPr id="32" name="Text 30"/>
          <p:cNvSpPr/>
          <p:nvPr/>
        </p:nvSpPr>
        <p:spPr>
          <a:xfrm>
            <a:off x="10346234" y="3905250"/>
            <a:ext cx="756246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B535E"/>
                </a:solidFill>
                <a:latin typeface="Arial" pitchFamily="34" charset="0"/>
                <a:ea typeface="Arial" pitchFamily="34" charset="-122"/>
                <a:cs typeface="Arial" pitchFamily="34" charset="-120"/>
              </a:rPr>
              <a:t>Exact against planted fraud, meaningless outside this dataset</a:t>
            </a:r>
            <a:endParaRPr lang="en-US" sz="1800" dirty="0"/>
          </a:p>
        </p:txBody>
      </p:sp>
      <p:sp>
        <p:nvSpPr>
          <p:cNvPr id="33" name="Text 31"/>
          <p:cNvSpPr/>
          <p:nvPr/>
        </p:nvSpPr>
        <p:spPr>
          <a:xfrm>
            <a:off x="10346234" y="4415730"/>
            <a:ext cx="7562463" cy="352425"/>
          </a:xfrm>
          <a:prstGeom prst="rect">
            <a:avLst/>
          </a:prstGeom>
          <a:noFill/>
          <a:ln/>
        </p:spPr>
        <p:txBody>
          <a:bodyPr wrap="square" lIns="25400" tIns="25400" rIns="25400" bIns="25400" rtlCol="0" anchor="t">
            <a:normAutofit/>
          </a:bodyPr>
          <a:lstStyle/>
          <a:p>
            <a:pPr algn="l" indent="0" marL="0">
              <a:buNone/>
            </a:pPr>
            <a:r>
              <a:rPr lang="en-US" sz="2025" dirty="0">
                <a:solidFill>
                  <a:srgbClr val="1B222B"/>
                </a:solidFill>
                <a:latin typeface="Arial" pitchFamily="34" charset="0"/>
                <a:ea typeface="Arial" pitchFamily="34" charset="-122"/>
                <a:cs typeface="Arial" pitchFamily="34" charset="-120"/>
              </a:rPr>
              <a:t>Challenge pass rate</a:t>
            </a:r>
            <a:endParaRPr lang="en-US" sz="2025" dirty="0"/>
          </a:p>
        </p:txBody>
      </p:sp>
      <p:sp>
        <p:nvSpPr>
          <p:cNvPr id="34" name="Text 32"/>
          <p:cNvSpPr/>
          <p:nvPr/>
        </p:nvSpPr>
        <p:spPr>
          <a:xfrm>
            <a:off x="10346234" y="4777680"/>
            <a:ext cx="756246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B535E"/>
                </a:solidFill>
                <a:latin typeface="Arial" pitchFamily="34" charset="0"/>
                <a:ea typeface="Arial" pitchFamily="34" charset="-122"/>
                <a:cs typeface="Arial" pitchFamily="34" charset="-120"/>
              </a:rPr>
              <a:t>Nothing external answers a step-up; a script settles them</a:t>
            </a:r>
            <a:endParaRPr lang="en-US" sz="1800" dirty="0"/>
          </a:p>
        </p:txBody>
      </p:sp>
      <p:sp>
        <p:nvSpPr>
          <p:cNvPr id="35" name="Shape 33"/>
          <p:cNvSpPr/>
          <p:nvPr/>
        </p:nvSpPr>
        <p:spPr>
          <a:xfrm>
            <a:off x="1066800" y="8382000"/>
            <a:ext cx="16154400" cy="9525"/>
          </a:xfrm>
          <a:prstGeom prst="rect">
            <a:avLst/>
          </a:prstGeom>
          <a:solidFill>
            <a:srgbClr val="CED5DC"/>
          </a:solidFill>
          <a:ln/>
        </p:spPr>
      </p:sp>
      <p:sp>
        <p:nvSpPr>
          <p:cNvPr id="36" name="Text 34"/>
          <p:cNvSpPr/>
          <p:nvPr/>
        </p:nvSpPr>
        <p:spPr>
          <a:xfrm>
            <a:off x="1066800" y="8753475"/>
            <a:ext cx="1530477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565F69"/>
                </a:solidFill>
                <a:latin typeface="Arial" pitchFamily="34" charset="0"/>
                <a:ea typeface="Arial" pitchFamily="34" charset="-122"/>
                <a:cs typeface="Arial" pitchFamily="34" charset="-120"/>
              </a:rPr>
              <a:t>A figure is never computed on the screen — it comes off the same rows the decisions were written to. A number that cannot be trusted says so on itself, rather than in a footnote nobody reads.</a:t>
            </a:r>
            <a:endParaRPr lang="en-US" sz="20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1066800" y="838200"/>
            <a:ext cx="13390245" cy="781050"/>
          </a:xfrm>
          <a:prstGeom prst="rect">
            <a:avLst/>
          </a:prstGeom>
          <a:noFill/>
          <a:ln/>
        </p:spPr>
        <p:txBody>
          <a:bodyPr wrap="square" lIns="25400" tIns="25400" rIns="25400" bIns="25400" rtlCol="0" anchor="t">
            <a:normAutofit/>
          </a:bodyPr>
          <a:lstStyle/>
          <a:p>
            <a:pPr algn="l" indent="0" marL="0">
              <a:buNone/>
            </a:pPr>
            <a:r>
              <a:rPr lang="en-US" sz="4800" spc="-106" kern="0" dirty="0">
                <a:solidFill>
                  <a:srgbClr val="1B222B"/>
                </a:solidFill>
                <a:latin typeface="Arial" pitchFamily="34" charset="0"/>
                <a:ea typeface="Arial" pitchFamily="34" charset="-122"/>
                <a:cs typeface="Arial" pitchFamily="34" charset="-120"/>
              </a:rPr>
              <a:t>Where AI could help — and where it must not</a:t>
            </a:r>
            <a:endParaRPr lang="en-US" sz="4800" dirty="0"/>
          </a:p>
        </p:txBody>
      </p:sp>
      <p:sp>
        <p:nvSpPr>
          <p:cNvPr id="3" name="Text 1"/>
          <p:cNvSpPr/>
          <p:nvPr/>
        </p:nvSpPr>
        <p:spPr>
          <a:xfrm>
            <a:off x="16864459" y="120015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27B86"/>
                </a:solidFill>
                <a:latin typeface="Courier New" pitchFamily="34" charset="0"/>
                <a:ea typeface="Courier New" pitchFamily="34" charset="-122"/>
                <a:cs typeface="Courier New" pitchFamily="34" charset="-120"/>
              </a:rPr>
              <a:t>11</a:t>
            </a:r>
            <a:endParaRPr lang="en-US" sz="1800" dirty="0"/>
          </a:p>
        </p:txBody>
      </p:sp>
      <p:sp>
        <p:nvSpPr>
          <p:cNvPr id="4" name="Shape 2"/>
          <p:cNvSpPr/>
          <p:nvPr/>
        </p:nvSpPr>
        <p:spPr>
          <a:xfrm>
            <a:off x="1066800" y="1866900"/>
            <a:ext cx="16154400" cy="9525"/>
          </a:xfrm>
          <a:prstGeom prst="rect">
            <a:avLst/>
          </a:prstGeom>
          <a:solidFill>
            <a:srgbClr val="CED5DC"/>
          </a:solidFill>
          <a:ln/>
        </p:spPr>
      </p:sp>
      <p:sp>
        <p:nvSpPr>
          <p:cNvPr id="5" name="Text 3"/>
          <p:cNvSpPr/>
          <p:nvPr/>
        </p:nvSpPr>
        <p:spPr>
          <a:xfrm>
            <a:off x="1066800" y="2028825"/>
            <a:ext cx="15304770" cy="1028700"/>
          </a:xfrm>
          <a:prstGeom prst="rect">
            <a:avLst/>
          </a:prstGeom>
          <a:noFill/>
          <a:ln/>
        </p:spPr>
        <p:txBody>
          <a:bodyPr wrap="square" lIns="25400" tIns="25400" rIns="25400" bIns="25400" rtlCol="0" anchor="t">
            <a:normAutofit/>
          </a:bodyPr>
          <a:lstStyle/>
          <a:p>
            <a:pPr algn="l" indent="0" marL="0">
              <a:lnSpc>
                <a:spcPct val="115556"/>
              </a:lnSpc>
              <a:buNone/>
            </a:pPr>
            <a:r>
              <a:rPr lang="en-US" sz="3000" dirty="0">
                <a:solidFill>
                  <a:srgbClr val="1B222B"/>
                </a:solidFill>
                <a:latin typeface="Arial" pitchFamily="34" charset="0"/>
                <a:ea typeface="Arial" pitchFamily="34" charset="-122"/>
                <a:cs typeface="Arial" pitchFamily="34" charset="-120"/>
              </a:rPr>
              <a:t>On the authoring side, not the deciding side — proposing rows a human still has to promote.</a:t>
            </a:r>
            <a:endParaRPr lang="en-US" sz="3000" dirty="0"/>
          </a:p>
        </p:txBody>
      </p:sp>
      <p:sp>
        <p:nvSpPr>
          <p:cNvPr id="6" name="Shape 4"/>
          <p:cNvSpPr/>
          <p:nvPr/>
        </p:nvSpPr>
        <p:spPr>
          <a:xfrm>
            <a:off x="1066800" y="3248025"/>
            <a:ext cx="5347246" cy="6276975"/>
          </a:xfrm>
          <a:prstGeom prst="rect">
            <a:avLst/>
          </a:prstGeom>
          <a:solidFill>
            <a:srgbClr val="E7EEF5"/>
          </a:solidFill>
          <a:ln/>
        </p:spPr>
      </p:sp>
      <p:sp>
        <p:nvSpPr>
          <p:cNvPr id="7" name="Text 5"/>
          <p:cNvSpPr/>
          <p:nvPr/>
        </p:nvSpPr>
        <p:spPr>
          <a:xfrm>
            <a:off x="1314450" y="3476625"/>
            <a:ext cx="5337140"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3E6C9B"/>
                </a:solidFill>
                <a:latin typeface="Courier New" pitchFamily="34" charset="0"/>
                <a:ea typeface="Courier New" pitchFamily="34" charset="-122"/>
                <a:cs typeface="Courier New" pitchFamily="34" charset="-120"/>
              </a:rPr>
              <a:t>SUGGEST THE POINTS</a:t>
            </a:r>
            <a:endParaRPr lang="en-US" sz="1800" dirty="0"/>
          </a:p>
        </p:txBody>
      </p:sp>
      <p:sp>
        <p:nvSpPr>
          <p:cNvPr id="8" name="Text 6"/>
          <p:cNvSpPr/>
          <p:nvPr/>
        </p:nvSpPr>
        <p:spPr>
          <a:xfrm>
            <a:off x="1314450" y="3905250"/>
            <a:ext cx="4997504" cy="806053"/>
          </a:xfrm>
          <a:prstGeom prst="rect">
            <a:avLst/>
          </a:prstGeom>
          <a:noFill/>
          <a:ln/>
        </p:spPr>
        <p:txBody>
          <a:bodyPr wrap="square" lIns="25400" tIns="25400" rIns="25400" bIns="25400" rtlCol="0" anchor="t">
            <a:normAutofit/>
          </a:bodyPr>
          <a:lstStyle/>
          <a:p>
            <a:pPr algn="l" indent="0" marL="0">
              <a:lnSpc>
                <a:spcPct val="108973"/>
              </a:lnSpc>
              <a:buNone/>
            </a:pPr>
            <a:r>
              <a:rPr lang="en-US" sz="2400" dirty="0">
                <a:solidFill>
                  <a:srgbClr val="1B222B"/>
                </a:solidFill>
                <a:latin typeface="Arial" pitchFamily="34" charset="0"/>
                <a:ea typeface="Arial" pitchFamily="34" charset="-122"/>
                <a:cs typeface="Arial" pitchFamily="34" charset="-120"/>
              </a:rPr>
              <a:t>Reprice a condition from what it has actually caught</a:t>
            </a:r>
            <a:endParaRPr lang="en-US" sz="2400" dirty="0"/>
          </a:p>
        </p:txBody>
      </p:sp>
      <p:sp>
        <p:nvSpPr>
          <p:cNvPr id="9" name="Text 7"/>
          <p:cNvSpPr/>
          <p:nvPr/>
        </p:nvSpPr>
        <p:spPr>
          <a:xfrm>
            <a:off x="1314450" y="4806553"/>
            <a:ext cx="4997504" cy="1498402"/>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4B535E"/>
                </a:solidFill>
                <a:latin typeface="Arial" pitchFamily="34" charset="0"/>
                <a:ea typeface="Arial" pitchFamily="34" charset="-122"/>
                <a:cs typeface="Arial" pitchFamily="34" charset="-120"/>
              </a:rPr>
              <a:t>How often a condition fires, and how often those cases were confirmed fraud, is already measured. A model reads the same rows a human does.</a:t>
            </a:r>
            <a:endParaRPr lang="en-US" sz="2025" dirty="0"/>
          </a:p>
        </p:txBody>
      </p:sp>
      <p:sp>
        <p:nvSpPr>
          <p:cNvPr id="10" name="Text 8"/>
          <p:cNvSpPr/>
          <p:nvPr/>
        </p:nvSpPr>
        <p:spPr>
          <a:xfrm>
            <a:off x="1314450" y="6400205"/>
            <a:ext cx="4997504" cy="768251"/>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4B535E"/>
                </a:solidFill>
                <a:latin typeface="Arial" pitchFamily="34" charset="0"/>
                <a:ea typeface="Arial" pitchFamily="34" charset="-122"/>
                <a:cs typeface="Arial" pitchFamily="34" charset="-120"/>
              </a:rPr>
              <a:t>A price is a row — so the proposal is an UPDATE, simulated and shadowed first.</a:t>
            </a:r>
            <a:endParaRPr lang="en-US" sz="2025" dirty="0"/>
          </a:p>
        </p:txBody>
      </p:sp>
      <p:sp>
        <p:nvSpPr>
          <p:cNvPr id="11" name="Shape 9"/>
          <p:cNvSpPr/>
          <p:nvPr/>
        </p:nvSpPr>
        <p:spPr>
          <a:xfrm>
            <a:off x="6871246" y="3248025"/>
            <a:ext cx="5347395" cy="6276975"/>
          </a:xfrm>
          <a:prstGeom prst="rect">
            <a:avLst/>
          </a:prstGeom>
          <a:solidFill>
            <a:srgbClr val="E7EEF5"/>
          </a:solidFill>
          <a:ln/>
        </p:spPr>
      </p:sp>
      <p:sp>
        <p:nvSpPr>
          <p:cNvPr id="12" name="Text 10"/>
          <p:cNvSpPr/>
          <p:nvPr/>
        </p:nvSpPr>
        <p:spPr>
          <a:xfrm>
            <a:off x="7118896" y="3476625"/>
            <a:ext cx="5337304"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3E6C9B"/>
                </a:solidFill>
                <a:latin typeface="Courier New" pitchFamily="34" charset="0"/>
                <a:ea typeface="Courier New" pitchFamily="34" charset="-122"/>
                <a:cs typeface="Courier New" pitchFamily="34" charset="-120"/>
              </a:rPr>
              <a:t>DRAFT THE RULE</a:t>
            </a:r>
            <a:endParaRPr lang="en-US" sz="1800" dirty="0"/>
          </a:p>
        </p:txBody>
      </p:sp>
      <p:sp>
        <p:nvSpPr>
          <p:cNvPr id="13" name="Text 11"/>
          <p:cNvSpPr/>
          <p:nvPr/>
        </p:nvSpPr>
        <p:spPr>
          <a:xfrm>
            <a:off x="7118896" y="3905250"/>
            <a:ext cx="4997657" cy="806053"/>
          </a:xfrm>
          <a:prstGeom prst="rect">
            <a:avLst/>
          </a:prstGeom>
          <a:noFill/>
          <a:ln/>
        </p:spPr>
        <p:txBody>
          <a:bodyPr wrap="square" lIns="25400" tIns="25400" rIns="25400" bIns="25400" rtlCol="0" anchor="t">
            <a:normAutofit/>
          </a:bodyPr>
          <a:lstStyle/>
          <a:p>
            <a:pPr algn="l" indent="0" marL="0">
              <a:lnSpc>
                <a:spcPct val="108973"/>
              </a:lnSpc>
              <a:buNone/>
            </a:pPr>
            <a:r>
              <a:rPr lang="en-US" sz="2400" dirty="0">
                <a:solidFill>
                  <a:srgbClr val="1B222B"/>
                </a:solidFill>
                <a:latin typeface="Arial" pitchFamily="34" charset="0"/>
                <a:ea typeface="Arial" pitchFamily="34" charset="-122"/>
                <a:cs typeface="Arial" pitchFamily="34" charset="-120"/>
              </a:rPr>
              <a:t>Describe a pattern in words; an agent drafts the rows</a:t>
            </a:r>
            <a:endParaRPr lang="en-US" sz="2400" dirty="0"/>
          </a:p>
        </p:txBody>
      </p:sp>
      <p:sp>
        <p:nvSpPr>
          <p:cNvPr id="14" name="Text 12"/>
          <p:cNvSpPr/>
          <p:nvPr/>
        </p:nvSpPr>
        <p:spPr>
          <a:xfrm>
            <a:off x="7118896" y="4825603"/>
            <a:ext cx="5337304"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C7580"/>
                </a:solidFill>
                <a:latin typeface="Courier New" pitchFamily="34" charset="0"/>
                <a:ea typeface="Courier New" pitchFamily="34" charset="-122"/>
                <a:cs typeface="Courier New" pitchFamily="34" charset="-120"/>
              </a:rPr>
              <a:t>CONTEXT IT NEEDS</a:t>
            </a:r>
            <a:endParaRPr lang="en-US" sz="1800" dirty="0"/>
          </a:p>
        </p:txBody>
      </p:sp>
      <p:sp>
        <p:nvSpPr>
          <p:cNvPr id="15" name="Text 13"/>
          <p:cNvSpPr/>
          <p:nvPr/>
        </p:nvSpPr>
        <p:spPr>
          <a:xfrm>
            <a:off x="7118896" y="5254228"/>
            <a:ext cx="4997657" cy="716756"/>
          </a:xfrm>
          <a:prstGeom prst="rect">
            <a:avLst/>
          </a:prstGeom>
          <a:noFill/>
          <a:ln/>
        </p:spPr>
        <p:txBody>
          <a:bodyPr wrap="square" lIns="25400" tIns="25400" rIns="25400" bIns="25400" rtlCol="0" anchor="t">
            <a:normAutofit/>
          </a:bodyPr>
          <a:lstStyle/>
          <a:p>
            <a:pPr algn="l" indent="0" marL="0">
              <a:lnSpc>
                <a:spcPct val="114968"/>
              </a:lnSpc>
              <a:buNone/>
            </a:pPr>
            <a:r>
              <a:rPr lang="en-US" sz="2025" dirty="0">
                <a:solidFill>
                  <a:srgbClr val="404952"/>
                </a:solidFill>
                <a:latin typeface="Arial" pitchFamily="34" charset="0"/>
                <a:ea typeface="Arial" pitchFamily="34" charset="-122"/>
                <a:cs typeface="Arial" pitchFamily="34" charset="-120"/>
              </a:rPr>
              <a:t>The feature catalog — what is measurable, in what units</a:t>
            </a:r>
            <a:endParaRPr lang="en-US" sz="2025" dirty="0"/>
          </a:p>
        </p:txBody>
      </p:sp>
      <p:sp>
        <p:nvSpPr>
          <p:cNvPr id="16" name="Text 14"/>
          <p:cNvSpPr/>
          <p:nvPr/>
        </p:nvSpPr>
        <p:spPr>
          <a:xfrm>
            <a:off x="7118896" y="6009084"/>
            <a:ext cx="4997657" cy="716756"/>
          </a:xfrm>
          <a:prstGeom prst="rect">
            <a:avLst/>
          </a:prstGeom>
          <a:noFill/>
          <a:ln/>
        </p:spPr>
        <p:txBody>
          <a:bodyPr wrap="square" lIns="25400" tIns="25400" rIns="25400" bIns="25400" rtlCol="0" anchor="t">
            <a:normAutofit/>
          </a:bodyPr>
          <a:lstStyle/>
          <a:p>
            <a:pPr algn="l" indent="0" marL="0">
              <a:lnSpc>
                <a:spcPct val="114968"/>
              </a:lnSpc>
              <a:buNone/>
            </a:pPr>
            <a:r>
              <a:rPr lang="en-US" sz="2025" dirty="0">
                <a:solidFill>
                  <a:srgbClr val="404952"/>
                </a:solidFill>
                <a:latin typeface="Arial" pitchFamily="34" charset="0"/>
                <a:ea typeface="Arial" pitchFamily="34" charset="-122"/>
                <a:cs typeface="Arial" pitchFamily="34" charset="-120"/>
              </a:rPr>
              <a:t>The operators and shapes validation accepts</a:t>
            </a:r>
            <a:endParaRPr lang="en-US" sz="2025" dirty="0"/>
          </a:p>
        </p:txBody>
      </p:sp>
      <p:sp>
        <p:nvSpPr>
          <p:cNvPr id="17" name="Text 15"/>
          <p:cNvSpPr/>
          <p:nvPr/>
        </p:nvSpPr>
        <p:spPr>
          <a:xfrm>
            <a:off x="7118896" y="6763941"/>
            <a:ext cx="4997657" cy="716756"/>
          </a:xfrm>
          <a:prstGeom prst="rect">
            <a:avLst/>
          </a:prstGeom>
          <a:noFill/>
          <a:ln/>
        </p:spPr>
        <p:txBody>
          <a:bodyPr wrap="square" lIns="25400" tIns="25400" rIns="25400" bIns="25400" rtlCol="0" anchor="t">
            <a:normAutofit/>
          </a:bodyPr>
          <a:lstStyle/>
          <a:p>
            <a:pPr algn="l" indent="0" marL="0">
              <a:lnSpc>
                <a:spcPct val="114968"/>
              </a:lnSpc>
              <a:buNone/>
            </a:pPr>
            <a:r>
              <a:rPr lang="en-US" sz="2025" dirty="0">
                <a:solidFill>
                  <a:srgbClr val="404952"/>
                </a:solidFill>
                <a:latin typeface="Arial" pitchFamily="34" charset="0"/>
                <a:ea typeface="Arial" pitchFamily="34" charset="-122"/>
                <a:cs typeface="Arial" pitchFamily="34" charset="-120"/>
              </a:rPr>
              <a:t>The rules that already exist, to not contradict one</a:t>
            </a:r>
            <a:endParaRPr lang="en-US" sz="2025" dirty="0"/>
          </a:p>
        </p:txBody>
      </p:sp>
      <p:sp>
        <p:nvSpPr>
          <p:cNvPr id="18" name="Text 16"/>
          <p:cNvSpPr/>
          <p:nvPr/>
        </p:nvSpPr>
        <p:spPr>
          <a:xfrm>
            <a:off x="7118896" y="7518797"/>
            <a:ext cx="5337304" cy="377428"/>
          </a:xfrm>
          <a:prstGeom prst="rect">
            <a:avLst/>
          </a:prstGeom>
          <a:noFill/>
          <a:ln/>
        </p:spPr>
        <p:txBody>
          <a:bodyPr wrap="square" lIns="25400" tIns="25400" rIns="25400" bIns="25400" rtlCol="0" anchor="t">
            <a:normAutofit/>
          </a:bodyPr>
          <a:lstStyle/>
          <a:p>
            <a:pPr algn="l" indent="0" marL="0">
              <a:lnSpc>
                <a:spcPct val="114968"/>
              </a:lnSpc>
              <a:buNone/>
            </a:pPr>
            <a:r>
              <a:rPr lang="en-US" sz="2025" dirty="0">
                <a:solidFill>
                  <a:srgbClr val="404952"/>
                </a:solidFill>
                <a:latin typeface="Arial" pitchFamily="34" charset="0"/>
                <a:ea typeface="Arial" pitchFamily="34" charset="-122"/>
                <a:cs typeface="Arial" pitchFamily="34" charset="-120"/>
              </a:rPr>
              <a:t>Current thresholds, bands and windows</a:t>
            </a:r>
            <a:endParaRPr lang="en-US" sz="2025" dirty="0"/>
          </a:p>
        </p:txBody>
      </p:sp>
      <p:sp>
        <p:nvSpPr>
          <p:cNvPr id="19" name="Text 17"/>
          <p:cNvSpPr/>
          <p:nvPr/>
        </p:nvSpPr>
        <p:spPr>
          <a:xfrm>
            <a:off x="7118896" y="7991475"/>
            <a:ext cx="4997657" cy="768251"/>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4B535E"/>
                </a:solidFill>
                <a:latin typeface="Arial" pitchFamily="34" charset="0"/>
                <a:ea typeface="Arial" pitchFamily="34" charset="-122"/>
                <a:cs typeface="Arial" pitchFamily="34" charset="-120"/>
              </a:rPr>
              <a:t>Its output is a candidate rule as rows — not code.</a:t>
            </a:r>
            <a:endParaRPr lang="en-US" sz="2025" dirty="0"/>
          </a:p>
        </p:txBody>
      </p:sp>
      <p:sp>
        <p:nvSpPr>
          <p:cNvPr id="20" name="Shape 18"/>
          <p:cNvSpPr/>
          <p:nvPr/>
        </p:nvSpPr>
        <p:spPr>
          <a:xfrm>
            <a:off x="12675840" y="3248025"/>
            <a:ext cx="4545360" cy="19050"/>
          </a:xfrm>
          <a:prstGeom prst="rect">
            <a:avLst/>
          </a:prstGeom>
          <a:solidFill>
            <a:srgbClr val="93573B"/>
          </a:solidFill>
          <a:ln/>
        </p:spPr>
      </p:sp>
      <p:sp>
        <p:nvSpPr>
          <p:cNvPr id="21" name="Text 19"/>
          <p:cNvSpPr/>
          <p:nvPr/>
        </p:nvSpPr>
        <p:spPr>
          <a:xfrm>
            <a:off x="12675840" y="3476625"/>
            <a:ext cx="4999896"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3573B"/>
                </a:solidFill>
                <a:latin typeface="Courier New" pitchFamily="34" charset="0"/>
                <a:ea typeface="Courier New" pitchFamily="34" charset="-122"/>
                <a:cs typeface="Courier New" pitchFamily="34" charset="-120"/>
              </a:rPr>
              <a:t>MUST NOT</a:t>
            </a:r>
            <a:endParaRPr lang="en-US" sz="1800" dirty="0"/>
          </a:p>
        </p:txBody>
      </p:sp>
      <p:sp>
        <p:nvSpPr>
          <p:cNvPr id="22" name="Text 20"/>
          <p:cNvSpPr/>
          <p:nvPr/>
        </p:nvSpPr>
        <p:spPr>
          <a:xfrm>
            <a:off x="12675840" y="3924300"/>
            <a:ext cx="4681721" cy="768251"/>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1B222B"/>
                </a:solidFill>
                <a:latin typeface="Arial" pitchFamily="34" charset="0"/>
                <a:ea typeface="Arial" pitchFamily="34" charset="-122"/>
                <a:cs typeface="Arial" pitchFamily="34" charset="-120"/>
              </a:rPr>
              <a:t>Produce the score — it stays a sum of visible parts</a:t>
            </a:r>
            <a:endParaRPr lang="en-US" sz="2025" dirty="0"/>
          </a:p>
        </p:txBody>
      </p:sp>
      <p:sp>
        <p:nvSpPr>
          <p:cNvPr id="23" name="Text 21"/>
          <p:cNvSpPr/>
          <p:nvPr/>
        </p:nvSpPr>
        <p:spPr>
          <a:xfrm>
            <a:off x="12675840" y="4806851"/>
            <a:ext cx="4681721" cy="768251"/>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1B222B"/>
                </a:solidFill>
                <a:latin typeface="Arial" pitchFamily="34" charset="0"/>
                <a:ea typeface="Arial" pitchFamily="34" charset="-122"/>
                <a:cs typeface="Arial" pitchFamily="34" charset="-120"/>
              </a:rPr>
              <a:t>Write the explanation — that is still generated from rows</a:t>
            </a:r>
            <a:endParaRPr lang="en-US" sz="2025" dirty="0"/>
          </a:p>
        </p:txBody>
      </p:sp>
      <p:sp>
        <p:nvSpPr>
          <p:cNvPr id="24" name="Text 22"/>
          <p:cNvSpPr/>
          <p:nvPr/>
        </p:nvSpPr>
        <p:spPr>
          <a:xfrm>
            <a:off x="12675840" y="5689402"/>
            <a:ext cx="4681721" cy="768251"/>
          </a:xfrm>
          <a:prstGeom prst="rect">
            <a:avLst/>
          </a:prstGeom>
          <a:noFill/>
          <a:ln/>
        </p:spPr>
        <p:txBody>
          <a:bodyPr wrap="square" lIns="25400" tIns="25400" rIns="25400" bIns="25400" rtlCol="0" anchor="t">
            <a:normAutofit/>
          </a:bodyPr>
          <a:lstStyle/>
          <a:p>
            <a:pPr algn="l" indent="0" marL="0">
              <a:lnSpc>
                <a:spcPct val="123677"/>
              </a:lnSpc>
              <a:buNone/>
            </a:pPr>
            <a:r>
              <a:rPr lang="en-US" sz="2025" dirty="0">
                <a:solidFill>
                  <a:srgbClr val="1B222B"/>
                </a:solidFill>
                <a:latin typeface="Arial" pitchFamily="34" charset="0"/>
                <a:ea typeface="Arial" pitchFamily="34" charset="-122"/>
                <a:cs typeface="Arial" pitchFamily="34" charset="-120"/>
              </a:rPr>
              <a:t>Promote its own proposal — a named person does that</a:t>
            </a:r>
            <a:endParaRPr lang="en-US" sz="20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33"/>
        </a:solidFill>
      </p:bgPr>
    </p:bg>
    <p:spTree>
      <p:nvGrpSpPr>
        <p:cNvPr id="1" name=""/>
        <p:cNvGrpSpPr/>
        <p:nvPr/>
      </p:nvGrpSpPr>
      <p:grpSpPr>
        <a:xfrm>
          <a:off x="0" y="0"/>
          <a:ext cx="0" cy="0"/>
          <a:chOff x="0" y="0"/>
          <a:chExt cx="0" cy="0"/>
        </a:xfrm>
      </p:grpSpPr>
      <p:sp>
        <p:nvSpPr>
          <p:cNvPr id="2" name="Text 0"/>
          <p:cNvSpPr/>
          <p:nvPr/>
        </p:nvSpPr>
        <p:spPr>
          <a:xfrm>
            <a:off x="1066800" y="838200"/>
            <a:ext cx="789533"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83A8CF"/>
                </a:solidFill>
                <a:latin typeface="Courier New" pitchFamily="34" charset="0"/>
                <a:ea typeface="Courier New" pitchFamily="34" charset="-122"/>
                <a:cs typeface="Courier New" pitchFamily="34" charset="-120"/>
              </a:rPr>
              <a:t>DEMO</a:t>
            </a:r>
            <a:endParaRPr lang="en-US" sz="1800" dirty="0"/>
          </a:p>
        </p:txBody>
      </p:sp>
      <p:sp>
        <p:nvSpPr>
          <p:cNvPr id="3" name="Text 1"/>
          <p:cNvSpPr/>
          <p:nvPr/>
        </p:nvSpPr>
        <p:spPr>
          <a:xfrm>
            <a:off x="16864459" y="838200"/>
            <a:ext cx="432941"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E8792"/>
                </a:solidFill>
                <a:latin typeface="Courier New" pitchFamily="34" charset="0"/>
                <a:ea typeface="Courier New" pitchFamily="34" charset="-122"/>
                <a:cs typeface="Courier New" pitchFamily="34" charset="-120"/>
              </a:rPr>
              <a:t>12</a:t>
            </a:r>
            <a:endParaRPr lang="en-US" sz="1800" dirty="0"/>
          </a:p>
        </p:txBody>
      </p:sp>
      <p:sp>
        <p:nvSpPr>
          <p:cNvPr id="4" name="Text 2"/>
          <p:cNvSpPr/>
          <p:nvPr/>
        </p:nvSpPr>
        <p:spPr>
          <a:xfrm>
            <a:off x="1066800" y="2875062"/>
            <a:ext cx="15192375" cy="776436"/>
          </a:xfrm>
          <a:prstGeom prst="rect">
            <a:avLst/>
          </a:prstGeom>
          <a:noFill/>
          <a:ln/>
        </p:spPr>
        <p:txBody>
          <a:bodyPr wrap="square" lIns="25400" tIns="25400" rIns="25400" bIns="25400" rtlCol="0" anchor="t">
            <a:normAutofit/>
          </a:bodyPr>
          <a:lstStyle/>
          <a:p>
            <a:pPr algn="l" indent="0" marL="0">
              <a:lnSpc>
                <a:spcPct val="99385"/>
              </a:lnSpc>
              <a:buNone/>
            </a:pPr>
            <a:r>
              <a:rPr lang="en-US" sz="5100" spc="-127" kern="0" dirty="0">
                <a:solidFill>
                  <a:srgbClr val="ECEFF2"/>
                </a:solidFill>
                <a:latin typeface="Arial" pitchFamily="34" charset="0"/>
                <a:ea typeface="Arial" pitchFamily="34" charset="-122"/>
                <a:cs typeface="Arial" pitchFamily="34" charset="-120"/>
              </a:rPr>
              <a:t>A live charge, declined at the door</a:t>
            </a:r>
            <a:endParaRPr lang="en-US" sz="5100" dirty="0"/>
          </a:p>
        </p:txBody>
      </p:sp>
      <p:sp>
        <p:nvSpPr>
          <p:cNvPr id="5" name="Shape 3"/>
          <p:cNvSpPr/>
          <p:nvPr/>
        </p:nvSpPr>
        <p:spPr>
          <a:xfrm>
            <a:off x="1066800" y="4051548"/>
            <a:ext cx="7734300" cy="9525"/>
          </a:xfrm>
          <a:prstGeom prst="rect">
            <a:avLst/>
          </a:prstGeom>
          <a:solidFill>
            <a:srgbClr val="404952"/>
          </a:solidFill>
          <a:ln/>
        </p:spPr>
      </p:sp>
      <p:sp>
        <p:nvSpPr>
          <p:cNvPr id="6" name="Text 4"/>
          <p:cNvSpPr/>
          <p:nvPr/>
        </p:nvSpPr>
        <p:spPr>
          <a:xfrm>
            <a:off x="1066800" y="4299198"/>
            <a:ext cx="35063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79CC2"/>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550789" y="4232523"/>
            <a:ext cx="7147292"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The queue</a:t>
            </a:r>
            <a:endParaRPr lang="en-US" sz="2400" dirty="0"/>
          </a:p>
        </p:txBody>
      </p:sp>
      <p:sp>
        <p:nvSpPr>
          <p:cNvPr id="8" name="Text 6"/>
          <p:cNvSpPr/>
          <p:nvPr/>
        </p:nvSpPr>
        <p:spPr>
          <a:xfrm>
            <a:off x="1550789" y="4661148"/>
            <a:ext cx="7147292"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ABB2BB"/>
                </a:solidFill>
                <a:latin typeface="Arial" pitchFamily="34" charset="0"/>
                <a:ea typeface="Arial" pitchFamily="34" charset="-122"/>
                <a:cs typeface="Arial" pitchFamily="34" charset="-120"/>
              </a:rPr>
              <a:t>Ordered by score, exposure and recency — all three published</a:t>
            </a:r>
            <a:endParaRPr lang="en-US" sz="1800" dirty="0"/>
          </a:p>
        </p:txBody>
      </p:sp>
      <p:sp>
        <p:nvSpPr>
          <p:cNvPr id="9" name="Shape 7"/>
          <p:cNvSpPr/>
          <p:nvPr/>
        </p:nvSpPr>
        <p:spPr>
          <a:xfrm>
            <a:off x="9486900" y="4051548"/>
            <a:ext cx="7734300" cy="9525"/>
          </a:xfrm>
          <a:prstGeom prst="rect">
            <a:avLst/>
          </a:prstGeom>
          <a:solidFill>
            <a:srgbClr val="404952"/>
          </a:solidFill>
          <a:ln/>
        </p:spPr>
      </p:sp>
      <p:sp>
        <p:nvSpPr>
          <p:cNvPr id="10" name="Text 8"/>
          <p:cNvSpPr/>
          <p:nvPr/>
        </p:nvSpPr>
        <p:spPr>
          <a:xfrm>
            <a:off x="9486900" y="4299198"/>
            <a:ext cx="35063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79CC2"/>
                </a:solidFill>
                <a:latin typeface="Courier New" pitchFamily="34" charset="0"/>
                <a:ea typeface="Courier New" pitchFamily="34" charset="-122"/>
                <a:cs typeface="Courier New" pitchFamily="34" charset="-120"/>
              </a:rPr>
              <a:t>02</a:t>
            </a:r>
            <a:endParaRPr lang="en-US" sz="1800" dirty="0"/>
          </a:p>
        </p:txBody>
      </p:sp>
      <p:sp>
        <p:nvSpPr>
          <p:cNvPr id="11" name="Text 9"/>
          <p:cNvSpPr/>
          <p:nvPr/>
        </p:nvSpPr>
        <p:spPr>
          <a:xfrm>
            <a:off x="9970889" y="4232523"/>
            <a:ext cx="6566773"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Alert detail</a:t>
            </a:r>
            <a:endParaRPr lang="en-US" sz="2400" dirty="0"/>
          </a:p>
        </p:txBody>
      </p:sp>
      <p:sp>
        <p:nvSpPr>
          <p:cNvPr id="12" name="Text 10"/>
          <p:cNvSpPr/>
          <p:nvPr/>
        </p:nvSpPr>
        <p:spPr>
          <a:xfrm>
            <a:off x="9970889" y="4661148"/>
            <a:ext cx="656677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ABB2BB"/>
                </a:solidFill>
                <a:latin typeface="Arial" pitchFamily="34" charset="0"/>
                <a:ea typeface="Arial" pitchFamily="34" charset="-122"/>
                <a:cs typeface="Arial" pitchFamily="34" charset="-120"/>
              </a:rPr>
              <a:t>The signals, the score taken apart, and what was missing</a:t>
            </a:r>
            <a:endParaRPr lang="en-US" sz="1800" dirty="0"/>
          </a:p>
        </p:txBody>
      </p:sp>
      <p:sp>
        <p:nvSpPr>
          <p:cNvPr id="13" name="Shape 11"/>
          <p:cNvSpPr/>
          <p:nvPr/>
        </p:nvSpPr>
        <p:spPr>
          <a:xfrm>
            <a:off x="1066800" y="5304979"/>
            <a:ext cx="7734300" cy="9525"/>
          </a:xfrm>
          <a:prstGeom prst="rect">
            <a:avLst/>
          </a:prstGeom>
          <a:solidFill>
            <a:srgbClr val="404952"/>
          </a:solidFill>
          <a:ln/>
        </p:spPr>
      </p:sp>
      <p:sp>
        <p:nvSpPr>
          <p:cNvPr id="14" name="Text 12"/>
          <p:cNvSpPr/>
          <p:nvPr/>
        </p:nvSpPr>
        <p:spPr>
          <a:xfrm>
            <a:off x="1066800" y="5552629"/>
            <a:ext cx="35063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79CC2"/>
                </a:solidFill>
                <a:latin typeface="Courier New" pitchFamily="34" charset="0"/>
                <a:ea typeface="Courier New" pitchFamily="34" charset="-122"/>
                <a:cs typeface="Courier New" pitchFamily="34" charset="-120"/>
              </a:rPr>
              <a:t>03</a:t>
            </a:r>
            <a:endParaRPr lang="en-US" sz="1800" dirty="0"/>
          </a:p>
        </p:txBody>
      </p:sp>
      <p:sp>
        <p:nvSpPr>
          <p:cNvPr id="15" name="Text 13"/>
          <p:cNvSpPr/>
          <p:nvPr/>
        </p:nvSpPr>
        <p:spPr>
          <a:xfrm>
            <a:off x="1550789" y="5485954"/>
            <a:ext cx="7187074"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Recording a verdict</a:t>
            </a:r>
            <a:endParaRPr lang="en-US" sz="2400" dirty="0"/>
          </a:p>
        </p:txBody>
      </p:sp>
      <p:sp>
        <p:nvSpPr>
          <p:cNvPr id="16" name="Text 14"/>
          <p:cNvSpPr/>
          <p:nvPr/>
        </p:nvSpPr>
        <p:spPr>
          <a:xfrm>
            <a:off x="1550789" y="5914579"/>
            <a:ext cx="7187074"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ABB2BB"/>
                </a:solidFill>
                <a:latin typeface="Arial" pitchFamily="34" charset="0"/>
                <a:ea typeface="Arial" pitchFamily="34" charset="-122"/>
                <a:cs typeface="Arial" pitchFamily="34" charset="-120"/>
              </a:rPr>
              <a:t>Confirmed fraud, false positive or inconclusive — how it learns</a:t>
            </a:r>
            <a:endParaRPr lang="en-US" sz="1800" dirty="0"/>
          </a:p>
        </p:txBody>
      </p:sp>
      <p:sp>
        <p:nvSpPr>
          <p:cNvPr id="17" name="Shape 15"/>
          <p:cNvSpPr/>
          <p:nvPr/>
        </p:nvSpPr>
        <p:spPr>
          <a:xfrm>
            <a:off x="9486900" y="5304979"/>
            <a:ext cx="7734300" cy="9525"/>
          </a:xfrm>
          <a:prstGeom prst="rect">
            <a:avLst/>
          </a:prstGeom>
          <a:solidFill>
            <a:srgbClr val="404952"/>
          </a:solidFill>
          <a:ln/>
        </p:spPr>
      </p:sp>
      <p:sp>
        <p:nvSpPr>
          <p:cNvPr id="18" name="Text 16"/>
          <p:cNvSpPr/>
          <p:nvPr/>
        </p:nvSpPr>
        <p:spPr>
          <a:xfrm>
            <a:off x="9486900" y="5552629"/>
            <a:ext cx="35063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79CC2"/>
                </a:solidFill>
                <a:latin typeface="Courier New" pitchFamily="34" charset="0"/>
                <a:ea typeface="Courier New" pitchFamily="34" charset="-122"/>
                <a:cs typeface="Courier New" pitchFamily="34" charset="-120"/>
              </a:rPr>
              <a:t>04</a:t>
            </a:r>
            <a:endParaRPr lang="en-US" sz="1800" dirty="0"/>
          </a:p>
        </p:txBody>
      </p:sp>
      <p:sp>
        <p:nvSpPr>
          <p:cNvPr id="19" name="Text 17"/>
          <p:cNvSpPr/>
          <p:nvPr/>
        </p:nvSpPr>
        <p:spPr>
          <a:xfrm>
            <a:off x="9970889" y="5485954"/>
            <a:ext cx="6031929"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Measurements</a:t>
            </a:r>
            <a:endParaRPr lang="en-US" sz="2400" dirty="0"/>
          </a:p>
        </p:txBody>
      </p:sp>
      <p:sp>
        <p:nvSpPr>
          <p:cNvPr id="20" name="Text 18"/>
          <p:cNvSpPr/>
          <p:nvPr/>
        </p:nvSpPr>
        <p:spPr>
          <a:xfrm>
            <a:off x="9970889" y="5914579"/>
            <a:ext cx="6031929"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ABB2BB"/>
                </a:solidFill>
                <a:latin typeface="Arial" pitchFamily="34" charset="0"/>
                <a:ea typeface="Arial" pitchFamily="34" charset="-122"/>
                <a:cs typeface="Arial" pitchFamily="34" charset="-120"/>
              </a:rPr>
              <a:t>Each with its window, its denominator and its caveat</a:t>
            </a:r>
            <a:endParaRPr lang="en-US" sz="1800" dirty="0"/>
          </a:p>
        </p:txBody>
      </p:sp>
      <p:sp>
        <p:nvSpPr>
          <p:cNvPr id="21" name="Shape 19"/>
          <p:cNvSpPr/>
          <p:nvPr/>
        </p:nvSpPr>
        <p:spPr>
          <a:xfrm>
            <a:off x="1066800" y="6558409"/>
            <a:ext cx="7734300" cy="9525"/>
          </a:xfrm>
          <a:prstGeom prst="rect">
            <a:avLst/>
          </a:prstGeom>
          <a:solidFill>
            <a:srgbClr val="404952"/>
          </a:solidFill>
          <a:ln/>
        </p:spPr>
      </p:sp>
      <p:sp>
        <p:nvSpPr>
          <p:cNvPr id="22" name="Text 20"/>
          <p:cNvSpPr/>
          <p:nvPr/>
        </p:nvSpPr>
        <p:spPr>
          <a:xfrm>
            <a:off x="1066800" y="6806059"/>
            <a:ext cx="35063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79CC2"/>
                </a:solidFill>
                <a:latin typeface="Courier New" pitchFamily="34" charset="0"/>
                <a:ea typeface="Courier New" pitchFamily="34" charset="-122"/>
                <a:cs typeface="Courier New" pitchFamily="34" charset="-120"/>
              </a:rPr>
              <a:t>05</a:t>
            </a:r>
            <a:endParaRPr lang="en-US" sz="1800" dirty="0"/>
          </a:p>
        </p:txBody>
      </p:sp>
      <p:sp>
        <p:nvSpPr>
          <p:cNvPr id="23" name="Text 21"/>
          <p:cNvSpPr/>
          <p:nvPr/>
        </p:nvSpPr>
        <p:spPr>
          <a:xfrm>
            <a:off x="1550789" y="6739384"/>
            <a:ext cx="5251519"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Authoring a rule</a:t>
            </a:r>
            <a:endParaRPr lang="en-US" sz="2400" dirty="0"/>
          </a:p>
        </p:txBody>
      </p:sp>
      <p:sp>
        <p:nvSpPr>
          <p:cNvPr id="24" name="Text 22"/>
          <p:cNvSpPr/>
          <p:nvPr/>
        </p:nvSpPr>
        <p:spPr>
          <a:xfrm>
            <a:off x="1550789" y="7168009"/>
            <a:ext cx="5251519"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ABB2BB"/>
                </a:solidFill>
                <a:latin typeface="Arial" pitchFamily="34" charset="0"/>
                <a:ea typeface="Arial" pitchFamily="34" charset="-122"/>
                <a:cs typeface="Arial" pitchFamily="34" charset="-120"/>
              </a:rPr>
              <a:t>Written in the console, validated as it is typed</a:t>
            </a:r>
            <a:endParaRPr lang="en-US" sz="1800" dirty="0"/>
          </a:p>
        </p:txBody>
      </p:sp>
      <p:sp>
        <p:nvSpPr>
          <p:cNvPr id="25" name="Shape 23"/>
          <p:cNvSpPr/>
          <p:nvPr/>
        </p:nvSpPr>
        <p:spPr>
          <a:xfrm>
            <a:off x="9486900" y="6558409"/>
            <a:ext cx="7734300" cy="9525"/>
          </a:xfrm>
          <a:prstGeom prst="rect">
            <a:avLst/>
          </a:prstGeom>
          <a:solidFill>
            <a:srgbClr val="404952"/>
          </a:solidFill>
          <a:ln/>
        </p:spPr>
      </p:sp>
      <p:sp>
        <p:nvSpPr>
          <p:cNvPr id="26" name="Text 24"/>
          <p:cNvSpPr/>
          <p:nvPr/>
        </p:nvSpPr>
        <p:spPr>
          <a:xfrm>
            <a:off x="9486900" y="6806059"/>
            <a:ext cx="35063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779CC2"/>
                </a:solidFill>
                <a:latin typeface="Courier New" pitchFamily="34" charset="0"/>
                <a:ea typeface="Courier New" pitchFamily="34" charset="-122"/>
                <a:cs typeface="Courier New" pitchFamily="34" charset="-120"/>
              </a:rPr>
              <a:t>06</a:t>
            </a:r>
            <a:endParaRPr lang="en-US" sz="1800" dirty="0"/>
          </a:p>
        </p:txBody>
      </p:sp>
      <p:sp>
        <p:nvSpPr>
          <p:cNvPr id="27" name="Text 25"/>
          <p:cNvSpPr/>
          <p:nvPr/>
        </p:nvSpPr>
        <p:spPr>
          <a:xfrm>
            <a:off x="9970889" y="6739384"/>
            <a:ext cx="6432858" cy="409575"/>
          </a:xfrm>
          <a:prstGeom prst="rect">
            <a:avLst/>
          </a:prstGeom>
          <a:noFill/>
          <a:ln/>
        </p:spPr>
        <p:txBody>
          <a:bodyPr wrap="square" lIns="25400" tIns="25400" rIns="25400" bIns="25400" rtlCol="0" anchor="t">
            <a:normAutofit/>
          </a:bodyPr>
          <a:lstStyle/>
          <a:p>
            <a:pPr algn="l" indent="0" marL="0">
              <a:buNone/>
            </a:pPr>
            <a:r>
              <a:rPr lang="en-US" sz="2400" dirty="0">
                <a:solidFill>
                  <a:srgbClr val="ECEFF2"/>
                </a:solidFill>
                <a:latin typeface="Arial" pitchFamily="34" charset="0"/>
                <a:ea typeface="Arial" pitchFamily="34" charset="-122"/>
                <a:cs typeface="Arial" pitchFamily="34" charset="-120"/>
              </a:rPr>
              <a:t>Simulating a transaction</a:t>
            </a:r>
            <a:endParaRPr lang="en-US" sz="2400" dirty="0"/>
          </a:p>
        </p:txBody>
      </p:sp>
      <p:sp>
        <p:nvSpPr>
          <p:cNvPr id="28" name="Text 26"/>
          <p:cNvSpPr/>
          <p:nvPr/>
        </p:nvSpPr>
        <p:spPr>
          <a:xfrm>
            <a:off x="9970889" y="7168009"/>
            <a:ext cx="6432858"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ABB2BB"/>
                </a:solidFill>
                <a:latin typeface="Arial" pitchFamily="34" charset="0"/>
                <a:ea typeface="Arial" pitchFamily="34" charset="-122"/>
                <a:cs typeface="Arial" pitchFamily="34" charset="-120"/>
              </a:rPr>
              <a:t>What would have happened, without anything surviving</a:t>
            </a:r>
            <a:endParaRPr lang="en-US" sz="1800" dirty="0"/>
          </a:p>
        </p:txBody>
      </p:sp>
      <p:sp>
        <p:nvSpPr>
          <p:cNvPr id="29" name="Shape 27"/>
          <p:cNvSpPr/>
          <p:nvPr/>
        </p:nvSpPr>
        <p:spPr>
          <a:xfrm>
            <a:off x="1066800" y="9367838"/>
            <a:ext cx="495300" cy="19050"/>
          </a:xfrm>
          <a:prstGeom prst="rect">
            <a:avLst/>
          </a:prstGeom>
          <a:solidFill>
            <a:srgbClr val="5B8ABB"/>
          </a:solidFill>
          <a:ln/>
        </p:spPr>
      </p:sp>
      <p:sp>
        <p:nvSpPr>
          <p:cNvPr id="30" name="Text 28"/>
          <p:cNvSpPr/>
          <p:nvPr/>
        </p:nvSpPr>
        <p:spPr>
          <a:xfrm>
            <a:off x="1752600" y="9229725"/>
            <a:ext cx="8826311"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969FAB"/>
                </a:solidFill>
                <a:latin typeface="Courier New" pitchFamily="34" charset="0"/>
                <a:ea typeface="Courier New" pitchFamily="34" charset="-122"/>
                <a:cs typeface="Courier New" pitchFamily="34" charset="-120"/>
              </a:rPr>
              <a:t>Nothing shown is in the fixtures — it is computed live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2026-08-17T16:55:28Z</dcterms:created>
  <dcterms:modified xsi:type="dcterms:W3CDTF">2026-08-17T16:55:28Z</dcterms:modified>
</cp:coreProperties>
</file>